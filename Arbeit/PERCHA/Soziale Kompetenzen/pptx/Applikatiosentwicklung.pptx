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6" r:id="rId3"/>
    <p:sldId id="260" r:id="rId4"/>
    <p:sldId id="257" r:id="rId5"/>
    <p:sldId id="258" r:id="rId6"/>
    <p:sldId id="269" r:id="rId7"/>
    <p:sldId id="261" r:id="rId8"/>
    <p:sldId id="262" r:id="rId9"/>
    <p:sldId id="265" r:id="rId10"/>
    <p:sldId id="263" r:id="rId11"/>
    <p:sldId id="264" r:id="rId12"/>
    <p:sldId id="267" r:id="rId13"/>
    <p:sldId id="270" r:id="rId1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59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28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3/24/2023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32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dissolve/>
      </p:transition>
    </mc:Choice>
    <mc:Fallback xmlns="">
      <p:transition spd="med">
        <p:dissolv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537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dissolve/>
      </p:transition>
    </mc:Choice>
    <mc:Fallback xmlns="">
      <p:transition spd="med">
        <p:dissolv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3/24/2023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938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dissolve/>
      </p:transition>
    </mc:Choice>
    <mc:Fallback xmlns="">
      <p:transition spd="med">
        <p:dissolv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3/24/2023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1931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dissolve/>
      </p:transition>
    </mc:Choice>
    <mc:Fallback xmlns="">
      <p:transition spd="med">
        <p:dissolv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3/24/2023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271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dissolve/>
      </p:transition>
    </mc:Choice>
    <mc:Fallback xmlns="">
      <p:transition spd="med">
        <p:dissolv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3/24/2023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1072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dissolve/>
      </p:transition>
    </mc:Choice>
    <mc:Fallback xmlns="">
      <p:transition spd="med">
        <p:dissolv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3/24/2023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6803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dissolve/>
      </p:transition>
    </mc:Choice>
    <mc:Fallback xmlns="">
      <p:transition spd="med">
        <p:dissolv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3/24/2023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2315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dissolve/>
      </p:transition>
    </mc:Choice>
    <mc:Fallback xmlns="">
      <p:transition spd="med">
        <p:dissolv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2252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dissolve/>
      </p:transition>
    </mc:Choice>
    <mc:Fallback xmlns="">
      <p:transition spd="med">
        <p:dissolv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598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dissolve/>
      </p:transition>
    </mc:Choice>
    <mc:Fallback xmlns="">
      <p:transition spd="med">
        <p:dissolv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997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dissolve/>
      </p:transition>
    </mc:Choice>
    <mc:Fallback xmlns="">
      <p:transition spd="med">
        <p:dissolv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0851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dissolve/>
      </p:transition>
    </mc:Choice>
    <mc:Fallback xmlns="">
      <p:transition spd="med">
        <p:dissolv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821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dissolve/>
      </p:transition>
    </mc:Choice>
    <mc:Fallback xmlns="">
      <p:transition spd="med">
        <p:dissolv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3/24/2023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85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dissolve/>
      </p:transition>
    </mc:Choice>
    <mc:Fallback xmlns="">
      <p:transition spd="med">
        <p:dissolv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3/24/2023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748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dissolve/>
      </p:transition>
    </mc:Choice>
    <mc:Fallback xmlns="">
      <p:transition spd="med">
        <p:dissolv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784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dissolve/>
      </p:transition>
    </mc:Choice>
    <mc:Fallback xmlns="">
      <p:transition spd="med">
        <p:dissolv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588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dissolve/>
      </p:transition>
    </mc:Choice>
    <mc:Fallback xmlns="">
      <p:transition spd="med">
        <p:dissolv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3/24/2023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4024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mc:AlternateContent xmlns:mc="http://schemas.openxmlformats.org/markup-compatibility/2006" xmlns:p14="http://schemas.microsoft.com/office/powerpoint/2010/main">
    <mc:Choice Requires="p14">
      <p:transition spd="med" p14:dur="600">
        <p:dissolve/>
      </p:transition>
    </mc:Choice>
    <mc:Fallback xmlns="">
      <p:transition spd="med">
        <p:dissolve/>
      </p:transition>
    </mc:Fallback>
  </mc:AlternateConten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ehrstellenportal.at/berufe/applikationsentwickler/gehalt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www.bic.at/berufsinformation.php?beruf=applikationsentwicklung-coding_lehrberuf&amp;brfid=2695&amp;tab=2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lehrbetriebsuebersicht.wko.at/default.aspx?bdl=2&amp;lbnr=882&amp;lbnr2=0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ic.at/berufsinformation.php?beruf=applikationsentwicklung-coding_lehrberuf&amp;brfid=2695&amp;tab=1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7000"/>
                <a:hueMod val="88000"/>
                <a:satMod val="130000"/>
                <a:lumMod val="124000"/>
              </a:schemeClr>
            </a:gs>
            <a:gs pos="100000">
              <a:schemeClr val="bg2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28D0172-F2E0-4763-9C35-F022664959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"/>
            <a:ext cx="12191695" cy="473074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6">
            <a:extLst>
              <a:ext uri="{FF2B5EF4-FFF2-40B4-BE49-F238E27FC236}">
                <a16:creationId xmlns:a16="http://schemas.microsoft.com/office/drawing/2014/main" id="{9F2851FB-E841-4509-8A6D-A416376EA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3753695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DF6FB2B2-CE21-407F-B22E-302DADC2C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12192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65505" y="623571"/>
            <a:ext cx="10260990" cy="3523885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de-DE" sz="7400">
                <a:solidFill>
                  <a:srgbClr val="FFFFFF"/>
                </a:solidFill>
                <a:latin typeface="Times"/>
                <a:cs typeface="Calibri Light"/>
              </a:rPr>
              <a:t>Applikationsentwicklung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965505" y="4777380"/>
            <a:ext cx="10260990" cy="1209763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de-DE" sz="2400" dirty="0">
                <a:solidFill>
                  <a:schemeClr val="tx1"/>
                </a:solidFill>
                <a:cs typeface="Calibri"/>
              </a:rPr>
              <a:t>KOFLER Taylor</a:t>
            </a:r>
          </a:p>
        </p:txBody>
      </p:sp>
    </p:spTree>
    <p:extLst>
      <p:ext uri="{BB962C8B-B14F-4D97-AF65-F5344CB8AC3E}">
        <p14:creationId xmlns:p14="http://schemas.microsoft.com/office/powerpoint/2010/main" val="15774998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600">
        <p:dissolve/>
      </p:transition>
    </mc:Choice>
    <mc:Fallback xmlns="">
      <p:transition spd="med">
        <p:dissolv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7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>
                  <a:alpha val="20000"/>
                </a:schemeClr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/>
          <a:effec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B55FEA-6822-181A-97EC-B26120748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1645920"/>
            <a:ext cx="3522879" cy="4470821"/>
          </a:xfrm>
        </p:spPr>
        <p:txBody>
          <a:bodyPr>
            <a:normAutofit/>
          </a:bodyPr>
          <a:lstStyle/>
          <a:p>
            <a:pPr algn="r"/>
            <a:r>
              <a:rPr lang="de-AT" sz="2600">
                <a:solidFill>
                  <a:srgbClr val="FFFFFF"/>
                </a:solidFill>
                <a:latin typeface="Times"/>
                <a:cs typeface="Calibri Light"/>
              </a:rPr>
              <a:t>Lehrlingsentschädigung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72DD3-1AFF-BC24-BDE8-8B9C2936F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4109" y="1645920"/>
            <a:ext cx="5919503" cy="447082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de-AT">
                <a:latin typeface="Times"/>
                <a:cs typeface="Times"/>
              </a:rPr>
              <a:t>Im 1.Lehrjahr: ca.752€</a:t>
            </a:r>
            <a:endParaRPr lang="en-US">
              <a:latin typeface="Times"/>
              <a:ea typeface="+mn-lt"/>
              <a:cs typeface="+mn-lt"/>
            </a:endParaRPr>
          </a:p>
          <a:p>
            <a:r>
              <a:rPr lang="de-AT">
                <a:latin typeface="Times"/>
                <a:cs typeface="Times"/>
              </a:rPr>
              <a:t>Im 2.Lehrjahr: ca.955 €</a:t>
            </a:r>
            <a:endParaRPr lang="en-US">
              <a:latin typeface="Times"/>
              <a:ea typeface="+mn-lt"/>
              <a:cs typeface="+mn-lt"/>
            </a:endParaRPr>
          </a:p>
          <a:p>
            <a:r>
              <a:rPr lang="de-AT">
                <a:latin typeface="Times"/>
                <a:cs typeface="Times"/>
              </a:rPr>
              <a:t>Im 3.Lehrjahr: ca.1.200€</a:t>
            </a:r>
            <a:endParaRPr lang="en-US">
              <a:latin typeface="Times"/>
              <a:ea typeface="+mn-lt"/>
              <a:cs typeface="+mn-lt"/>
            </a:endParaRPr>
          </a:p>
          <a:p>
            <a:r>
              <a:rPr lang="de-AT">
                <a:latin typeface="Times"/>
                <a:cs typeface="Times"/>
              </a:rPr>
              <a:t>Im 4.Lehrjahr: ca.1.519€</a:t>
            </a:r>
            <a:endParaRPr lang="en-US">
              <a:ea typeface="+mn-lt"/>
              <a:cs typeface="+mn-lt"/>
            </a:endParaRPr>
          </a:p>
          <a:p>
            <a:endParaRPr lang="de-AT">
              <a:ea typeface="+mn-lt"/>
              <a:cs typeface="+mn-lt"/>
            </a:endParaRPr>
          </a:p>
          <a:p>
            <a:endParaRPr lang="de-AT">
              <a:ea typeface="+mn-lt"/>
              <a:cs typeface="+mn-lt"/>
            </a:endParaRPr>
          </a:p>
          <a:p>
            <a:endParaRPr lang="de-AT">
              <a:ea typeface="+mn-lt"/>
              <a:cs typeface="+mn-lt"/>
            </a:endParaRPr>
          </a:p>
          <a:p>
            <a:pPr marL="0" indent="0">
              <a:buNone/>
            </a:pPr>
            <a:r>
              <a:rPr lang="de-AT">
                <a:latin typeface="Times"/>
                <a:cs typeface="Times"/>
              </a:rPr>
              <a:t>Quelle: </a:t>
            </a:r>
            <a:r>
              <a:rPr lang="de-AT">
                <a:latin typeface="Times"/>
                <a:cs typeface="Times"/>
                <a:hlinkClick r:id="rId2"/>
              </a:rPr>
              <a:t>www.lehrstellenportal.at/berufe/applikationsentwickler/gehalt/</a:t>
            </a:r>
            <a:endParaRPr lang="en-US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6419522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600">
        <p:dissolve/>
      </p:transition>
    </mc:Choice>
    <mc:Fallback xmlns="">
      <p:transition spd="med">
        <p:dissolv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9ECDD5C-152A-4CC7-8333-0F367B3A6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F5C92A3-369B-43F3-BDCE-E560B1B0E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AEBE9F1A-B38D-446E-83AE-14B17CE77F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15B5014-A7EC-4BA6-9C83-8840CF81D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22C43AB-86D7-420D-8AD7-DC0A15FDD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5E3EB826-A471-488F-9E8A-D65528A3C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85D5AA8-773B-469A-8802-9645A4DC9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75AF42C-C556-454E-B2D3-2C917CB81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A7FFCE-BC56-38E1-D3B9-07802F05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1516019"/>
            <a:ext cx="2541838" cy="3825961"/>
          </a:xfrm>
        </p:spPr>
        <p:txBody>
          <a:bodyPr anchor="t">
            <a:normAutofit/>
          </a:bodyPr>
          <a:lstStyle/>
          <a:p>
            <a:pPr defTabSz="397764"/>
            <a:r>
              <a:rPr lang="de-AT" sz="3200" b="0" i="0" kern="1200" dirty="0">
                <a:solidFill>
                  <a:srgbClr val="FFFFFF"/>
                </a:solidFill>
                <a:latin typeface="Times"/>
                <a:ea typeface="+mj-ea"/>
                <a:cs typeface="Calibri Light"/>
              </a:rPr>
              <a:t>Welche </a:t>
            </a:r>
            <a:r>
              <a:rPr lang="de-AT" sz="3200" dirty="0">
                <a:solidFill>
                  <a:srgbClr val="FFFFFF"/>
                </a:solidFill>
                <a:latin typeface="Times"/>
                <a:cs typeface="Calibri Light"/>
              </a:rPr>
              <a:t>Eigenschaftensollte</a:t>
            </a:r>
            <a:r>
              <a:rPr lang="de-AT" sz="3200" b="0" i="0" kern="1200" dirty="0">
                <a:solidFill>
                  <a:srgbClr val="FFFFFF"/>
                </a:solidFill>
                <a:latin typeface="Times"/>
                <a:ea typeface="+mj-ea"/>
                <a:cs typeface="Calibri Light"/>
              </a:rPr>
              <a:t> man haben?</a:t>
            </a:r>
            <a:endParaRPr lang="de-AT" sz="3200" dirty="0">
              <a:solidFill>
                <a:srgbClr val="FFFFFF"/>
              </a:solidFill>
              <a:latin typeface="Times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DD9AC-A002-2E8C-D481-A59F2C4BFA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49458" y="1516020"/>
            <a:ext cx="3004840" cy="382596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98323" indent="-298323" defTabSz="397764">
              <a:lnSpc>
                <a:spcPct val="90000"/>
              </a:lnSpc>
              <a:spcBef>
                <a:spcPts val="870"/>
              </a:spcBef>
              <a:buFont typeface="Courier New" panose="020B0604020202020204" pitchFamily="34" charset="0"/>
              <a:buChar char="o"/>
            </a:pPr>
            <a:r>
              <a:rPr lang="de-AT" b="0" i="0" kern="1200" dirty="0">
                <a:solidFill>
                  <a:schemeClr val="tx1"/>
                </a:solidFill>
                <a:latin typeface="Times"/>
                <a:ea typeface="+mn-lt"/>
                <a:cs typeface="+mn-lt"/>
              </a:rPr>
              <a:t>Persönliche Eigenschaften:</a:t>
            </a:r>
          </a:p>
          <a:p>
            <a:pPr marL="298323" indent="-298323" defTabSz="397764">
              <a:lnSpc>
                <a:spcPct val="90000"/>
              </a:lnSpc>
              <a:spcBef>
                <a:spcPts val="870"/>
              </a:spcBef>
              <a:buFont typeface="Courier New" panose="020B0604020202020204" pitchFamily="34" charset="0"/>
              <a:buChar char="o"/>
            </a:pPr>
            <a:r>
              <a:rPr lang="de-AT" sz="1700" b="0" i="0" kern="1200" dirty="0">
                <a:solidFill>
                  <a:schemeClr val="tx1"/>
                </a:solidFill>
                <a:latin typeface="Times"/>
                <a:ea typeface="+mn-lt"/>
                <a:cs typeface="+mn-lt"/>
              </a:rPr>
              <a:t>Entscheidungsfähigkeit</a:t>
            </a:r>
            <a:endParaRPr lang="de-AT" sz="1700" b="0" i="0" kern="1200" dirty="0">
              <a:solidFill>
                <a:schemeClr val="tx1"/>
              </a:solidFill>
              <a:latin typeface="Times"/>
              <a:ea typeface="+mj-ea"/>
              <a:cs typeface="Calibri"/>
            </a:endParaRPr>
          </a:p>
          <a:p>
            <a:pPr marL="298323" indent="-298323" defTabSz="397764">
              <a:lnSpc>
                <a:spcPct val="90000"/>
              </a:lnSpc>
              <a:spcBef>
                <a:spcPts val="870"/>
              </a:spcBef>
              <a:buFont typeface="Courier New" panose="020B0604020202020204" pitchFamily="34" charset="0"/>
              <a:buChar char="o"/>
            </a:pPr>
            <a:r>
              <a:rPr lang="de-AT" sz="1700" b="0" i="0" kern="1200" dirty="0">
                <a:solidFill>
                  <a:schemeClr val="tx1"/>
                </a:solidFill>
                <a:latin typeface="Times"/>
                <a:ea typeface="+mn-lt"/>
                <a:cs typeface="+mn-lt"/>
              </a:rPr>
              <a:t> Eigeninitiative</a:t>
            </a:r>
            <a:endParaRPr lang="de-AT" sz="1700" b="0" i="0" kern="1200" dirty="0">
              <a:solidFill>
                <a:schemeClr val="tx1"/>
              </a:solidFill>
              <a:latin typeface="Times"/>
              <a:ea typeface="+mj-ea"/>
              <a:cs typeface="Calibri"/>
            </a:endParaRPr>
          </a:p>
          <a:p>
            <a:pPr marL="298323" indent="-298323" defTabSz="397764">
              <a:lnSpc>
                <a:spcPct val="90000"/>
              </a:lnSpc>
              <a:spcBef>
                <a:spcPts val="870"/>
              </a:spcBef>
              <a:buFont typeface="Courier New" panose="020B0604020202020204" pitchFamily="34" charset="0"/>
              <a:buChar char="o"/>
            </a:pPr>
            <a:r>
              <a:rPr lang="de-AT" sz="1700" b="0" i="0" kern="1200" dirty="0">
                <a:solidFill>
                  <a:schemeClr val="tx1"/>
                </a:solidFill>
                <a:latin typeface="Times"/>
                <a:ea typeface="+mn-lt"/>
                <a:cs typeface="+mn-lt"/>
              </a:rPr>
              <a:t> Veränderungsbereitschaft</a:t>
            </a:r>
            <a:endParaRPr lang="de-AT" sz="1700" b="0" i="0" kern="1200" dirty="0">
              <a:solidFill>
                <a:schemeClr val="tx1"/>
              </a:solidFill>
              <a:latin typeface="Times"/>
              <a:ea typeface="+mj-ea"/>
              <a:cs typeface="Calibri"/>
            </a:endParaRPr>
          </a:p>
          <a:p>
            <a:pPr marL="298323" indent="-298323" defTabSz="397764">
              <a:lnSpc>
                <a:spcPct val="90000"/>
              </a:lnSpc>
              <a:spcBef>
                <a:spcPts val="870"/>
              </a:spcBef>
              <a:buFont typeface="Courier New" panose="020B0604020202020204" pitchFamily="34" charset="0"/>
              <a:buChar char="o"/>
            </a:pPr>
            <a:r>
              <a:rPr lang="de-AT" sz="1700" b="0" i="0" kern="1200" dirty="0">
                <a:solidFill>
                  <a:schemeClr val="tx1"/>
                </a:solidFill>
                <a:latin typeface="Times"/>
                <a:ea typeface="+mn-lt"/>
                <a:cs typeface="+mn-lt"/>
              </a:rPr>
              <a:t> Konzentrationsfähigkeit</a:t>
            </a:r>
            <a:endParaRPr lang="de-AT" sz="1700" b="0" i="0" kern="1200" dirty="0">
              <a:solidFill>
                <a:schemeClr val="tx1"/>
              </a:solidFill>
              <a:latin typeface="Times"/>
              <a:ea typeface="+mj-ea"/>
              <a:cs typeface="Calibri"/>
            </a:endParaRPr>
          </a:p>
          <a:p>
            <a:pPr marL="298323" indent="-298323" defTabSz="397764">
              <a:lnSpc>
                <a:spcPct val="90000"/>
              </a:lnSpc>
              <a:spcBef>
                <a:spcPts val="870"/>
              </a:spcBef>
              <a:buFont typeface="Courier New" panose="020B0604020202020204" pitchFamily="34" charset="0"/>
              <a:buChar char="o"/>
            </a:pPr>
            <a:r>
              <a:rPr lang="de-AT" sz="1700" b="0" i="0" kern="1200" dirty="0">
                <a:solidFill>
                  <a:schemeClr val="tx1"/>
                </a:solidFill>
                <a:latin typeface="Times"/>
                <a:ea typeface="+mn-lt"/>
                <a:cs typeface="+mn-lt"/>
              </a:rPr>
              <a:t> Selbstorganisation</a:t>
            </a:r>
            <a:endParaRPr lang="de-AT" sz="1700" b="0" i="0" kern="1200" dirty="0">
              <a:solidFill>
                <a:schemeClr val="tx1"/>
              </a:solidFill>
              <a:latin typeface="Times"/>
              <a:ea typeface="+mj-ea"/>
              <a:cs typeface="Calibri"/>
            </a:endParaRPr>
          </a:p>
          <a:p>
            <a:pPr marL="298323" indent="-298323" defTabSz="397764">
              <a:lnSpc>
                <a:spcPct val="90000"/>
              </a:lnSpc>
              <a:spcBef>
                <a:spcPts val="870"/>
              </a:spcBef>
              <a:buFont typeface="Courier New" panose="020B0604020202020204" pitchFamily="34" charset="0"/>
              <a:buChar char="o"/>
            </a:pPr>
            <a:r>
              <a:rPr lang="de-AT" sz="1700" b="0" i="0" kern="1200" dirty="0">
                <a:solidFill>
                  <a:schemeClr val="tx1"/>
                </a:solidFill>
                <a:latin typeface="Times"/>
                <a:ea typeface="+mn-lt"/>
                <a:cs typeface="+mn-lt"/>
              </a:rPr>
              <a:t>Sicherheitsbewusstsein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0ED35C-E9C1-48BA-AC35-1A1B7CFA45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18450" y="1516020"/>
            <a:ext cx="3662975" cy="3825961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397764">
              <a:spcBef>
                <a:spcPts val="870"/>
              </a:spcBef>
              <a:buFont typeface="Courier New" charset="2"/>
              <a:buChar char="o"/>
            </a:pPr>
            <a:r>
              <a:rPr lang="de-AT" b="0" i="0" kern="1200" dirty="0">
                <a:latin typeface="Times"/>
                <a:ea typeface="+mj-ea"/>
                <a:cs typeface="Calibri"/>
              </a:rPr>
              <a:t>Körperliche Eigenschaften:</a:t>
            </a:r>
            <a:endParaRPr lang="en-US" dirty="0"/>
          </a:p>
          <a:p>
            <a:pPr defTabSz="397764">
              <a:spcBef>
                <a:spcPts val="870"/>
              </a:spcBef>
              <a:buFont typeface="Courier New" charset="2"/>
              <a:buChar char="o"/>
            </a:pPr>
            <a:r>
              <a:rPr lang="de-AT" sz="1700" b="0" i="0" kern="1200" dirty="0">
                <a:latin typeface="Times"/>
                <a:ea typeface="+mn-lt"/>
                <a:cs typeface="+mn-lt"/>
              </a:rPr>
              <a:t>gutes Sehvermögen (</a:t>
            </a:r>
            <a:r>
              <a:rPr lang="de-AT" sz="1700" dirty="0">
                <a:latin typeface="Times"/>
                <a:ea typeface="+mn-lt"/>
                <a:cs typeface="+mn-lt"/>
              </a:rPr>
              <a:t>viel</a:t>
            </a:r>
            <a:r>
              <a:rPr lang="de-AT" sz="1700" b="0" i="0" kern="1200" dirty="0">
                <a:latin typeface="Times"/>
                <a:ea typeface="+mn-lt"/>
                <a:cs typeface="+mn-lt"/>
              </a:rPr>
              <a:t> Lesen bzw. Arbeiten am Computer)</a:t>
            </a:r>
            <a:endParaRPr lang="de-AT" sz="1700" b="0" i="0" kern="1200" dirty="0">
              <a:latin typeface="Times"/>
              <a:cs typeface="Calibri"/>
            </a:endParaRPr>
          </a:p>
          <a:p>
            <a:pPr defTabSz="397764">
              <a:spcBef>
                <a:spcPts val="870"/>
              </a:spcBef>
              <a:buFont typeface="Courier New" charset="2"/>
              <a:buChar char="o"/>
            </a:pPr>
            <a:r>
              <a:rPr lang="de-AT" sz="1700" b="0" i="0" kern="1200" dirty="0">
                <a:latin typeface="Times"/>
                <a:ea typeface="+mn-lt"/>
                <a:cs typeface="+mn-lt"/>
              </a:rPr>
              <a:t> Unempfindlichkeit gegenüber künstlicher Beleuchtung</a:t>
            </a:r>
          </a:p>
          <a:p>
            <a:pPr defTabSz="397764">
              <a:spcBef>
                <a:spcPts val="870"/>
              </a:spcBef>
              <a:buFont typeface="Courier New" charset="2"/>
              <a:buChar char="o"/>
            </a:pPr>
            <a:r>
              <a:rPr lang="de-AT" sz="1400" dirty="0" err="1">
                <a:latin typeface="Times"/>
                <a:cs typeface="Calibri"/>
              </a:rPr>
              <a:t>Quelle:</a:t>
            </a:r>
            <a:r>
              <a:rPr lang="de-AT" sz="1400" dirty="0" err="1">
                <a:latin typeface="Times"/>
                <a:ea typeface="+mn-lt"/>
                <a:cs typeface="+mn-lt"/>
                <a:hlinkClick r:id="rId7"/>
              </a:rPr>
              <a:t>www.bic.at</a:t>
            </a:r>
            <a:r>
              <a:rPr lang="de-AT" sz="1400" dirty="0">
                <a:latin typeface="Times"/>
                <a:ea typeface="+mn-lt"/>
                <a:cs typeface="+mn-lt"/>
                <a:hlinkClick r:id="rId7"/>
              </a:rPr>
              <a:t>/</a:t>
            </a:r>
            <a:r>
              <a:rPr lang="de-AT" sz="1400" dirty="0" err="1">
                <a:latin typeface="Times"/>
                <a:ea typeface="+mn-lt"/>
                <a:cs typeface="+mn-lt"/>
                <a:hlinkClick r:id="rId7"/>
              </a:rPr>
              <a:t>berufsinformation.php?beruf</a:t>
            </a:r>
            <a:r>
              <a:rPr lang="de-AT" sz="1400" dirty="0">
                <a:latin typeface="Times"/>
                <a:ea typeface="+mn-lt"/>
                <a:cs typeface="+mn-lt"/>
                <a:hlinkClick r:id="rId7"/>
              </a:rPr>
              <a:t>=</a:t>
            </a:r>
            <a:r>
              <a:rPr lang="de-AT" sz="1400" dirty="0" err="1">
                <a:latin typeface="Times"/>
                <a:ea typeface="+mn-lt"/>
                <a:cs typeface="+mn-lt"/>
                <a:hlinkClick r:id="rId7"/>
              </a:rPr>
              <a:t>applikationsentwicklung-coding_lehrberuf&amp;brfid</a:t>
            </a:r>
            <a:r>
              <a:rPr lang="de-AT" sz="1400" dirty="0">
                <a:latin typeface="Times"/>
                <a:ea typeface="+mn-lt"/>
                <a:cs typeface="+mn-lt"/>
                <a:hlinkClick r:id="rId7"/>
              </a:rPr>
              <a:t>=2695&amp;tab=2</a:t>
            </a:r>
            <a:endParaRPr lang="de-AT" sz="1400" dirty="0">
              <a:latin typeface="Times"/>
              <a:cs typeface="Calibri"/>
            </a:endParaRPr>
          </a:p>
          <a:p>
            <a:pPr defTabSz="397764">
              <a:spcBef>
                <a:spcPts val="870"/>
              </a:spcBef>
              <a:buFont typeface="Courier New" charset="2"/>
              <a:buChar char="o"/>
            </a:pPr>
            <a:endParaRPr lang="de-AT" sz="1550" dirty="0">
              <a:latin typeface="Times"/>
              <a:cs typeface="Times"/>
            </a:endParaRPr>
          </a:p>
        </p:txBody>
      </p:sp>
    </p:spTree>
    <p:extLst>
      <p:ext uri="{BB962C8B-B14F-4D97-AF65-F5344CB8AC3E}">
        <p14:creationId xmlns:p14="http://schemas.microsoft.com/office/powerpoint/2010/main" val="3298844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dissolve/>
      </p:transition>
    </mc:Choice>
    <mc:Fallback xmlns="">
      <p:transition spd="med">
        <p:dissolv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>
                  <a:alpha val="20000"/>
                </a:schemeClr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/>
          <a:effec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806306-B909-D95F-CE41-651596AA9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1645920"/>
            <a:ext cx="3522879" cy="4470821"/>
          </a:xfrm>
        </p:spPr>
        <p:txBody>
          <a:bodyPr>
            <a:normAutofit/>
          </a:bodyPr>
          <a:lstStyle/>
          <a:p>
            <a:pPr algn="r"/>
            <a:r>
              <a:rPr lang="de-AT">
                <a:solidFill>
                  <a:srgbClr val="FFFFFF"/>
                </a:solidFill>
                <a:latin typeface="Times"/>
                <a:cs typeface="Calibri Light"/>
              </a:rPr>
              <a:t>Firmen in Kärnten</a:t>
            </a:r>
            <a:endParaRPr lang="de-AT">
              <a:solidFill>
                <a:srgbClr val="FFFFFF"/>
              </a:solidFill>
              <a:latin typeface="Time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FFBE7-B94C-CA57-0E39-FEDC9A01D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4109" y="1645920"/>
            <a:ext cx="5919503" cy="4470821"/>
          </a:xfrm>
          <a:noFill/>
          <a:ln>
            <a:noFill/>
          </a:ln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de-AT" sz="1900" dirty="0" err="1">
                <a:latin typeface="Times"/>
                <a:cs typeface="Calibri"/>
              </a:rPr>
              <a:t>addIT</a:t>
            </a:r>
            <a:r>
              <a:rPr lang="de-AT" sz="1900" dirty="0">
                <a:latin typeface="Times"/>
                <a:cs typeface="Calibri"/>
              </a:rPr>
              <a:t> Dienstleistungen GmbH &amp; Co KG</a:t>
            </a:r>
            <a:endParaRPr lang="en-US" sz="1900">
              <a:latin typeface="Times"/>
              <a:cs typeface="Times"/>
            </a:endParaRPr>
          </a:p>
          <a:p>
            <a:pPr>
              <a:lnSpc>
                <a:spcPct val="90000"/>
              </a:lnSpc>
            </a:pPr>
            <a:r>
              <a:rPr lang="de-AT" sz="1900" dirty="0" err="1">
                <a:latin typeface="Times"/>
                <a:cs typeface="Calibri"/>
              </a:rPr>
              <a:t>Alpsware</a:t>
            </a:r>
            <a:r>
              <a:rPr lang="de-AT" sz="1900" dirty="0">
                <a:latin typeface="Times"/>
                <a:cs typeface="Calibri"/>
              </a:rPr>
              <a:t> GmbH</a:t>
            </a:r>
          </a:p>
          <a:p>
            <a:pPr>
              <a:lnSpc>
                <a:spcPct val="90000"/>
              </a:lnSpc>
            </a:pPr>
            <a:r>
              <a:rPr lang="de-AT" sz="1900" dirty="0" err="1">
                <a:latin typeface="Times"/>
                <a:cs typeface="Calibri"/>
              </a:rPr>
              <a:t>Augmensys</a:t>
            </a:r>
            <a:r>
              <a:rPr lang="de-AT" sz="1900" dirty="0">
                <a:latin typeface="Times"/>
                <a:cs typeface="Calibri"/>
              </a:rPr>
              <a:t> GmbH</a:t>
            </a:r>
          </a:p>
          <a:p>
            <a:pPr>
              <a:lnSpc>
                <a:spcPct val="90000"/>
              </a:lnSpc>
            </a:pPr>
            <a:r>
              <a:rPr lang="de-AT" sz="1900" dirty="0" err="1">
                <a:latin typeface="Times"/>
                <a:cs typeface="Calibri"/>
              </a:rPr>
              <a:t>awanto</a:t>
            </a:r>
            <a:r>
              <a:rPr lang="de-AT" sz="1900" dirty="0">
                <a:latin typeface="Times"/>
                <a:cs typeface="Calibri"/>
              </a:rPr>
              <a:t> GmbH</a:t>
            </a:r>
          </a:p>
          <a:p>
            <a:pPr>
              <a:lnSpc>
                <a:spcPct val="90000"/>
              </a:lnSpc>
            </a:pPr>
            <a:r>
              <a:rPr lang="de-AT" sz="1900" dirty="0">
                <a:latin typeface="Times"/>
                <a:cs typeface="Times"/>
              </a:rPr>
              <a:t>Flextronics International Gesellschaft </a:t>
            </a:r>
            <a:r>
              <a:rPr lang="de-AT" sz="1900" dirty="0" err="1">
                <a:latin typeface="Times"/>
                <a:cs typeface="Times"/>
              </a:rPr>
              <a:t>m.b.H</a:t>
            </a:r>
            <a:r>
              <a:rPr lang="de-AT" sz="1900" dirty="0">
                <a:latin typeface="Times"/>
                <a:cs typeface="Times"/>
              </a:rPr>
              <a:t>. </a:t>
            </a:r>
          </a:p>
          <a:p>
            <a:pPr>
              <a:lnSpc>
                <a:spcPct val="90000"/>
              </a:lnSpc>
            </a:pPr>
            <a:r>
              <a:rPr lang="de-AT" sz="1900" dirty="0">
                <a:latin typeface="Times"/>
                <a:cs typeface="Calibri"/>
              </a:rPr>
              <a:t>Celia IT LDT</a:t>
            </a:r>
          </a:p>
          <a:p>
            <a:pPr>
              <a:lnSpc>
                <a:spcPct val="90000"/>
              </a:lnSpc>
            </a:pPr>
            <a:r>
              <a:rPr lang="de-AT" sz="1900" dirty="0">
                <a:latin typeface="Times"/>
                <a:cs typeface="Calibri"/>
              </a:rPr>
              <a:t>Concept </a:t>
            </a:r>
            <a:r>
              <a:rPr lang="de-AT" sz="1900" dirty="0" err="1">
                <a:latin typeface="Times"/>
                <a:cs typeface="Calibri"/>
              </a:rPr>
              <a:t>Diaologue</a:t>
            </a:r>
            <a:r>
              <a:rPr lang="de-AT" sz="1900" dirty="0">
                <a:latin typeface="Times"/>
                <a:cs typeface="Calibri"/>
              </a:rPr>
              <a:t> BC </a:t>
            </a:r>
            <a:r>
              <a:rPr lang="de-AT" sz="1900" dirty="0" err="1">
                <a:latin typeface="Times"/>
                <a:cs typeface="Calibri"/>
              </a:rPr>
              <a:t>e.U</a:t>
            </a:r>
            <a:endParaRPr lang="de-AT" sz="1900" dirty="0">
              <a:latin typeface="Times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de-AT" sz="1900" dirty="0" err="1">
                <a:latin typeface="Times"/>
                <a:cs typeface="Calibri"/>
              </a:rPr>
              <a:t>Uvm</a:t>
            </a:r>
            <a:r>
              <a:rPr lang="de-AT" sz="1900" dirty="0">
                <a:latin typeface="Times"/>
                <a:cs typeface="Calibri"/>
              </a:rPr>
              <a:t>. </a:t>
            </a:r>
          </a:p>
          <a:p>
            <a:pPr>
              <a:lnSpc>
                <a:spcPct val="90000"/>
              </a:lnSpc>
            </a:pPr>
            <a:endParaRPr lang="de-AT" sz="1900" dirty="0">
              <a:latin typeface="Times"/>
              <a:cs typeface="Calibri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de-AT" sz="1900" dirty="0">
                <a:latin typeface="Times"/>
                <a:cs typeface="Calibri"/>
              </a:rPr>
              <a:t>Quelle: </a:t>
            </a:r>
            <a:r>
              <a:rPr lang="de-AT" sz="1900" dirty="0">
                <a:latin typeface="Times"/>
                <a:ea typeface="+mn-lt"/>
                <a:cs typeface="+mn-lt"/>
                <a:hlinkClick r:id="rId2"/>
              </a:rPr>
              <a:t>https://lehrbetriebsuebersicht.wko.at/default.aspx?bdl=2&amp;lbnr=882&amp;lbnr2=0</a:t>
            </a:r>
            <a:endParaRPr lang="de-AT" sz="1900" dirty="0">
              <a:latin typeface="Times"/>
              <a:ea typeface="+mn-lt"/>
              <a:cs typeface="+mn-lt"/>
            </a:endParaRPr>
          </a:p>
          <a:p>
            <a:pPr>
              <a:lnSpc>
                <a:spcPct val="90000"/>
              </a:lnSpc>
            </a:pPr>
            <a:endParaRPr lang="de-AT" sz="1900" dirty="0">
              <a:cs typeface="Calibri"/>
            </a:endParaRPr>
          </a:p>
          <a:p>
            <a:pPr>
              <a:lnSpc>
                <a:spcPct val="90000"/>
              </a:lnSpc>
            </a:pPr>
            <a:endParaRPr lang="en-US" sz="19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462398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600">
        <p:dissolve/>
      </p:transition>
    </mc:Choice>
    <mc:Fallback xmlns="">
      <p:transition spd="med">
        <p:dissolv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3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7" name="Freeform: Shape 19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8B84B9-7393-806D-66C5-4E9641F5E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anchor="ctr">
            <a:normAutofit/>
          </a:bodyPr>
          <a:lstStyle/>
          <a:p>
            <a:r>
              <a:rPr lang="de-AT">
                <a:solidFill>
                  <a:srgbClr val="FFFFFF"/>
                </a:solidFill>
                <a:cs typeface="Calibri Light"/>
              </a:rPr>
              <a:t>Aufgaben als Applikationsentwickler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7DF0C-14A4-898F-C605-ECE380D4F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763520"/>
            <a:ext cx="8946541" cy="3792555"/>
          </a:xfrm>
          <a:solidFill>
            <a:schemeClr val="bg1">
              <a:lumMod val="75000"/>
            </a:schemeClr>
          </a:solidFill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90000"/>
              </a:lnSpc>
              <a:buFont typeface="Wingdings" charset="2"/>
              <a:buChar char="§"/>
            </a:pPr>
            <a:r>
              <a:rPr lang="de-AT" sz="1400" dirty="0">
                <a:latin typeface="Times New Roman"/>
                <a:ea typeface="+mn-lt"/>
                <a:cs typeface="+mn-lt"/>
              </a:rPr>
              <a:t>Erwartungen zur Funktionsweisen und Anforderungen an die Applikationen mit den Kundinnen und Kunden abstimmen</a:t>
            </a:r>
            <a:endParaRPr lang="de-AT" sz="1400" dirty="0">
              <a:latin typeface="Times New Roman"/>
              <a:cs typeface="Calibri"/>
            </a:endParaRPr>
          </a:p>
          <a:p>
            <a:pPr>
              <a:lnSpc>
                <a:spcPct val="90000"/>
              </a:lnSpc>
              <a:buFont typeface="Wingdings" charset="2"/>
              <a:buChar char="§"/>
            </a:pPr>
            <a:r>
              <a:rPr lang="de-AT" sz="1400" dirty="0">
                <a:latin typeface="Times New Roman"/>
                <a:ea typeface="+mn-lt"/>
                <a:cs typeface="+mn-lt"/>
              </a:rPr>
              <a:t>Kundinnen und Kunden über Umsetzung, Benutzerfreundlichkeit, Barrierefreiheit, Kosten-Nutzen-Rechnung beraten</a:t>
            </a:r>
            <a:endParaRPr lang="de-AT" sz="1400" dirty="0">
              <a:latin typeface="Times New Roman"/>
              <a:cs typeface="Calibri"/>
            </a:endParaRPr>
          </a:p>
          <a:p>
            <a:pPr>
              <a:lnSpc>
                <a:spcPct val="90000"/>
              </a:lnSpc>
              <a:buFont typeface="Wingdings" charset="2"/>
              <a:buChar char="§"/>
            </a:pPr>
            <a:r>
              <a:rPr lang="de-AT" sz="1400" dirty="0">
                <a:latin typeface="Times New Roman"/>
                <a:ea typeface="+mn-lt"/>
                <a:cs typeface="+mn-lt"/>
              </a:rPr>
              <a:t>Projekt-, Zeit- und Ressourcenplan erstellen und mit Auftraggeber abstimmen</a:t>
            </a:r>
            <a:endParaRPr lang="de-AT" sz="1400" dirty="0">
              <a:latin typeface="Times New Roman"/>
              <a:cs typeface="Calibri"/>
            </a:endParaRPr>
          </a:p>
          <a:p>
            <a:pPr>
              <a:lnSpc>
                <a:spcPct val="90000"/>
              </a:lnSpc>
              <a:buFont typeface="Wingdings" charset="2"/>
              <a:buChar char="§"/>
            </a:pPr>
            <a:r>
              <a:rPr lang="de-AT" sz="1400" dirty="0">
                <a:latin typeface="Times New Roman"/>
                <a:ea typeface="+mn-lt"/>
                <a:cs typeface="+mn-lt"/>
              </a:rPr>
              <a:t>Prozessschritte mit Berufskolleginnen und -kollegen und fallweise mit weiteren Spezialistinnen und Spezialisten abstimmen</a:t>
            </a:r>
            <a:endParaRPr lang="de-AT" sz="1400" dirty="0">
              <a:latin typeface="Times New Roman"/>
              <a:cs typeface="Calibri"/>
            </a:endParaRPr>
          </a:p>
          <a:p>
            <a:pPr>
              <a:lnSpc>
                <a:spcPct val="90000"/>
              </a:lnSpc>
              <a:buFont typeface="Wingdings" charset="2"/>
              <a:buChar char="§"/>
            </a:pPr>
            <a:r>
              <a:rPr lang="de-AT" sz="1400" dirty="0">
                <a:latin typeface="Times New Roman"/>
                <a:ea typeface="+mn-lt"/>
                <a:cs typeface="+mn-lt"/>
              </a:rPr>
              <a:t>Applikationen bzw. Applikationsteile programmieren</a:t>
            </a:r>
            <a:endParaRPr lang="de-AT" sz="1400" dirty="0">
              <a:latin typeface="Times New Roman"/>
              <a:cs typeface="Calibri"/>
            </a:endParaRPr>
          </a:p>
          <a:p>
            <a:pPr>
              <a:lnSpc>
                <a:spcPct val="90000"/>
              </a:lnSpc>
              <a:buFont typeface="Wingdings" charset="2"/>
              <a:buChar char="§"/>
            </a:pPr>
            <a:r>
              <a:rPr lang="de-AT" sz="1400" dirty="0">
                <a:latin typeface="Times New Roman"/>
                <a:ea typeface="+mn-lt"/>
                <a:cs typeface="+mn-lt"/>
              </a:rPr>
              <a:t>Daten bestimmen, analysieren und Datenmodelle bzw. -Managementsysteme auswählen und umsetzen</a:t>
            </a:r>
            <a:endParaRPr lang="de-AT" sz="1400" dirty="0">
              <a:latin typeface="Times New Roman"/>
              <a:cs typeface="Calibri"/>
            </a:endParaRPr>
          </a:p>
          <a:p>
            <a:pPr>
              <a:lnSpc>
                <a:spcPct val="90000"/>
              </a:lnSpc>
              <a:buFont typeface="Wingdings" charset="2"/>
              <a:buChar char="§"/>
            </a:pPr>
            <a:r>
              <a:rPr lang="de-AT" sz="1400" dirty="0">
                <a:latin typeface="Times New Roman"/>
                <a:ea typeface="+mn-lt"/>
                <a:cs typeface="+mn-lt"/>
              </a:rPr>
              <a:t>Datenbankzugriffe entwickeln und Maßnahmen zur Datensicherheit, zum Datenschutz und gegebenenfalls zur Datenverschlüsselung umsetzen</a:t>
            </a:r>
            <a:endParaRPr lang="de-AT" sz="1400" dirty="0">
              <a:latin typeface="Times New Roman"/>
              <a:cs typeface="Calibri"/>
            </a:endParaRPr>
          </a:p>
          <a:p>
            <a:pPr>
              <a:lnSpc>
                <a:spcPct val="90000"/>
              </a:lnSpc>
              <a:buFont typeface="Wingdings" charset="2"/>
              <a:buChar char="§"/>
            </a:pPr>
            <a:r>
              <a:rPr lang="de-AT" sz="1400" dirty="0">
                <a:latin typeface="Times New Roman"/>
                <a:ea typeface="+mn-lt"/>
                <a:cs typeface="+mn-lt"/>
              </a:rPr>
              <a:t>Benutzerschnittstellen einrichten</a:t>
            </a:r>
            <a:endParaRPr lang="de-AT" sz="1400" dirty="0">
              <a:latin typeface="Times New Roman"/>
              <a:cs typeface="Calibri"/>
            </a:endParaRPr>
          </a:p>
          <a:p>
            <a:pPr>
              <a:lnSpc>
                <a:spcPct val="90000"/>
              </a:lnSpc>
              <a:buFont typeface="Wingdings" charset="2"/>
              <a:buChar char="§"/>
            </a:pPr>
            <a:r>
              <a:rPr lang="de-AT" sz="1400" dirty="0">
                <a:latin typeface="Times New Roman"/>
                <a:ea typeface="+mn-lt"/>
                <a:cs typeface="+mn-lt"/>
              </a:rPr>
              <a:t>Testfälle entwickeln sowie Tests durchführen, dokumentieren und Fehler beheben</a:t>
            </a:r>
            <a:endParaRPr lang="de-AT" sz="1400" dirty="0">
              <a:latin typeface="Times New Roman"/>
              <a:cs typeface="Calibri"/>
            </a:endParaRPr>
          </a:p>
          <a:p>
            <a:pPr>
              <a:lnSpc>
                <a:spcPct val="90000"/>
              </a:lnSpc>
              <a:buFont typeface="Wingdings" charset="2"/>
              <a:buChar char="§"/>
            </a:pPr>
            <a:r>
              <a:rPr lang="de-AT" sz="1400" dirty="0">
                <a:latin typeface="Times New Roman"/>
                <a:ea typeface="+mn-lt"/>
                <a:cs typeface="+mn-lt"/>
              </a:rPr>
              <a:t>technische Dokumentation und Benutzerhandbücher erstellen, Kundinnen und Kunden einschulen</a:t>
            </a:r>
            <a:endParaRPr lang="de-AT" sz="1400" dirty="0">
              <a:latin typeface="Times New Roman"/>
              <a:cs typeface="Calibri"/>
            </a:endParaRPr>
          </a:p>
          <a:p>
            <a:pPr>
              <a:lnSpc>
                <a:spcPct val="90000"/>
              </a:lnSpc>
              <a:buFont typeface="Wingdings" charset="2"/>
              <a:buChar char="§"/>
            </a:pPr>
            <a:r>
              <a:rPr lang="de-AT" sz="1400" dirty="0">
                <a:latin typeface="Times New Roman"/>
                <a:ea typeface="+mn-lt"/>
                <a:cs typeface="+mn-lt"/>
              </a:rPr>
              <a:t>weitere Serviceleistungen durchführen (Wartung, Erweiterung etc.)</a:t>
            </a:r>
            <a:endParaRPr lang="de-AT" sz="1400" dirty="0">
              <a:latin typeface="Times New Roman"/>
              <a:cs typeface="Calibri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  <p:extLst>
      <p:ext uri="{BB962C8B-B14F-4D97-AF65-F5344CB8AC3E}">
        <p14:creationId xmlns:p14="http://schemas.microsoft.com/office/powerpoint/2010/main" val="41697398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600">
        <p:dissolve/>
      </p:transition>
    </mc:Choice>
    <mc:Fallback xmlns="">
      <p:transition spd="med">
        <p:dissolv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38226-4937-961F-69F9-03FAA3B7D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sz="4000" dirty="0">
                <a:latin typeface="Times"/>
                <a:cs typeface="Times"/>
              </a:rPr>
              <a:t>Beispiele der Schwerpunkte im Gesetzlichen Berufsbild: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D84CA-8640-3731-573C-3BD15E31E9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457200" indent="-457200">
              <a:buAutoNum type="arabicPeriod"/>
            </a:pPr>
            <a:r>
              <a:rPr lang="de-AT" sz="1600" dirty="0">
                <a:latin typeface="Times"/>
                <a:cs typeface="Times"/>
              </a:rPr>
              <a:t>Der Lehrbetrieb:</a:t>
            </a:r>
            <a:br>
              <a:rPr lang="de-AT" sz="1600" dirty="0">
                <a:latin typeface="Times"/>
              </a:rPr>
            </a:br>
            <a:r>
              <a:rPr lang="de-AT" sz="1600" dirty="0">
                <a:latin typeface="Times"/>
                <a:cs typeface="Times"/>
              </a:rPr>
              <a:t>z.B. Einführung in Aufgaben und Angebote des Lehrbetriebs</a:t>
            </a:r>
          </a:p>
          <a:p>
            <a:pPr marL="457200" indent="-457200">
              <a:buClr>
                <a:srgbClr val="8AD0D6"/>
              </a:buClr>
              <a:buAutoNum type="arabicPeriod"/>
            </a:pPr>
            <a:r>
              <a:rPr lang="de-AT" sz="1600" dirty="0">
                <a:latin typeface="Times"/>
                <a:cs typeface="Times"/>
              </a:rPr>
              <a:t>Kaufmännische Grundlagen:</a:t>
            </a:r>
            <a:br>
              <a:rPr lang="de-AT" sz="1600" dirty="0">
                <a:latin typeface="Times"/>
              </a:rPr>
            </a:br>
            <a:r>
              <a:rPr lang="de-AT" sz="1600" dirty="0">
                <a:latin typeface="Times"/>
                <a:cs typeface="Times"/>
              </a:rPr>
              <a:t>z.B. </a:t>
            </a:r>
            <a:r>
              <a:rPr lang="de-AT" sz="1600" dirty="0">
                <a:latin typeface="Times"/>
                <a:ea typeface="+mj-lt"/>
                <a:cs typeface="+mj-lt"/>
              </a:rPr>
              <a:t>Kenntnisse der berufsspezifischen kaufmännischen Grundlagen (Kalkulation, Anbot, Rechnung, etc.)</a:t>
            </a:r>
            <a:endParaRPr lang="de-AT" sz="1600" dirty="0">
              <a:latin typeface="Times"/>
            </a:endParaRPr>
          </a:p>
          <a:p>
            <a:pPr marL="457200" indent="-457200">
              <a:buClr>
                <a:srgbClr val="8AD0D6"/>
              </a:buClr>
              <a:buAutoNum type="arabicPeriod"/>
            </a:pPr>
            <a:r>
              <a:rPr lang="de-AT" sz="1600" dirty="0">
                <a:latin typeface="Times"/>
                <a:cs typeface="Times"/>
              </a:rPr>
              <a:t>Fachliche Grundlagen:</a:t>
            </a:r>
            <a:br>
              <a:rPr lang="de-AT" sz="1600" dirty="0">
                <a:latin typeface="Times"/>
                <a:cs typeface="Times"/>
              </a:rPr>
            </a:br>
            <a:r>
              <a:rPr lang="de-AT" sz="1600" dirty="0">
                <a:latin typeface="Times"/>
                <a:cs typeface="Times"/>
              </a:rPr>
              <a:t>z.B. </a:t>
            </a:r>
            <a:r>
              <a:rPr lang="de-DE" sz="1600" dirty="0">
                <a:latin typeface="Times" panose="02020603050405020304" pitchFamily="18" charset="0"/>
                <a:cs typeface="Times" panose="02020603050405020304" pitchFamily="18" charset="0"/>
              </a:rPr>
              <a:t>Lesen und Anwenden technischer Unterlagen auch in englischer Sprache</a:t>
            </a:r>
            <a:endParaRPr lang="de-AT" sz="16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457200" indent="-457200">
              <a:buClr>
                <a:srgbClr val="8AD0D6"/>
              </a:buClr>
              <a:buAutoNum type="arabicPeriod"/>
            </a:pPr>
            <a:r>
              <a:rPr lang="de-AT" sz="1600" dirty="0">
                <a:latin typeface="Times"/>
                <a:cs typeface="Times"/>
              </a:rPr>
              <a:t>Fachübergreifende Ausbildung:</a:t>
            </a:r>
            <a:br>
              <a:rPr lang="de-AT" sz="1600" dirty="0">
                <a:latin typeface="Times"/>
                <a:cs typeface="Times"/>
              </a:rPr>
            </a:br>
            <a:r>
              <a:rPr lang="de-AT" sz="1600" dirty="0">
                <a:latin typeface="Times"/>
                <a:cs typeface="Times"/>
              </a:rPr>
              <a:t>z.B. Erlernen verschiedener Kompetenzen (Soziale Kompetenzen, Personale Kompetenzen)</a:t>
            </a:r>
          </a:p>
          <a:p>
            <a:pPr marL="457200" indent="-457200">
              <a:buClr>
                <a:srgbClr val="8AD0D6"/>
              </a:buClr>
              <a:buAutoNum type="arabicPeriod"/>
            </a:pPr>
            <a:r>
              <a:rPr lang="de-AT" sz="1600" dirty="0">
                <a:latin typeface="Times"/>
                <a:cs typeface="Times"/>
              </a:rPr>
              <a:t>Applikation:</a:t>
            </a:r>
            <a:br>
              <a:rPr lang="de-AT" sz="1600" dirty="0">
                <a:latin typeface="Times"/>
                <a:cs typeface="Times"/>
              </a:rPr>
            </a:br>
            <a:r>
              <a:rPr lang="de-AT" sz="1600" dirty="0">
                <a:latin typeface="Times"/>
                <a:cs typeface="Times"/>
              </a:rPr>
              <a:t>z.B. Grundkenntnisse vom Aufbau eines Computersystemen und Anwendungen</a:t>
            </a:r>
          </a:p>
          <a:p>
            <a:pPr marL="457200" indent="-457200">
              <a:buClr>
                <a:srgbClr val="8AD0D6"/>
              </a:buClr>
              <a:buAutoNum type="arabicPeriod"/>
            </a:pPr>
            <a:r>
              <a:rPr lang="de-AT" sz="1600" dirty="0">
                <a:latin typeface="Times"/>
                <a:cs typeface="Times"/>
              </a:rPr>
              <a:t>Daten und Datenbanken:</a:t>
            </a:r>
            <a:br>
              <a:rPr lang="de-AT" sz="1600" dirty="0">
                <a:latin typeface="Times"/>
                <a:cs typeface="Times"/>
              </a:rPr>
            </a:br>
            <a:r>
              <a:rPr lang="de-AT" sz="1600" dirty="0">
                <a:latin typeface="Times"/>
                <a:cs typeface="Times"/>
              </a:rPr>
              <a:t>z.B. </a:t>
            </a:r>
            <a:r>
              <a:rPr lang="de-DE" sz="1600" dirty="0">
                <a:latin typeface="Times" panose="02020603050405020304" pitchFamily="18" charset="0"/>
                <a:cs typeface="Times" panose="02020603050405020304" pitchFamily="18" charset="0"/>
              </a:rPr>
              <a:t>Kenntnis des Identifizierens und Analysierens</a:t>
            </a:r>
          </a:p>
          <a:p>
            <a:pPr marL="457200" indent="-457200">
              <a:buClr>
                <a:srgbClr val="8AD0D6"/>
              </a:buClr>
              <a:buAutoNum type="arabicPeriod"/>
            </a:pPr>
            <a:r>
              <a:rPr lang="de-AT" sz="1600" dirty="0">
                <a:latin typeface="Times" panose="02020603050405020304" pitchFamily="18" charset="0"/>
                <a:cs typeface="Times" panose="02020603050405020304" pitchFamily="18" charset="0"/>
              </a:rPr>
              <a:t>Qualitäts- und Projektmanagement</a:t>
            </a:r>
            <a:br>
              <a:rPr lang="de-AT" sz="1600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de-AT" sz="1600" dirty="0">
                <a:latin typeface="Times" panose="02020603050405020304" pitchFamily="18" charset="0"/>
                <a:cs typeface="Times" panose="02020603050405020304" pitchFamily="18" charset="0"/>
              </a:rPr>
              <a:t>z.B. </a:t>
            </a:r>
            <a:r>
              <a:rPr lang="de-DE" sz="1600" dirty="0">
                <a:latin typeface="Times" panose="02020603050405020304" pitchFamily="18" charset="0"/>
                <a:cs typeface="Times" panose="02020603050405020304" pitchFamily="18" charset="0"/>
              </a:rPr>
              <a:t>Grundkenntnisse über Qualitätssicherung und Qualitätskontrolle</a:t>
            </a:r>
          </a:p>
          <a:p>
            <a:pPr marL="457200" indent="-457200">
              <a:buClr>
                <a:srgbClr val="8AD0D6"/>
              </a:buClr>
              <a:buAutoNum type="arabicPeriod"/>
            </a:pPr>
            <a:r>
              <a:rPr lang="de-AT" sz="1600" dirty="0">
                <a:latin typeface="Times" panose="02020603050405020304" pitchFamily="18" charset="0"/>
                <a:cs typeface="Times" panose="02020603050405020304" pitchFamily="18" charset="0"/>
              </a:rPr>
              <a:t>Kunden und Kundinnen</a:t>
            </a:r>
            <a:br>
              <a:rPr lang="de-AT" sz="1600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de-AT" sz="1600" dirty="0">
                <a:latin typeface="Times" panose="02020603050405020304" pitchFamily="18" charset="0"/>
                <a:cs typeface="Times" panose="02020603050405020304" pitchFamily="18" charset="0"/>
              </a:rPr>
              <a:t>z.B. </a:t>
            </a:r>
            <a:r>
              <a:rPr lang="de-DE" sz="1600" dirty="0">
                <a:latin typeface="Times" panose="02020603050405020304" pitchFamily="18" charset="0"/>
                <a:cs typeface="Times" panose="02020603050405020304" pitchFamily="18" charset="0"/>
              </a:rPr>
              <a:t>Kenntnis des kundengerechten Verhaltens</a:t>
            </a:r>
            <a:endParaRPr lang="de-AT" sz="18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457200" indent="-457200">
              <a:buClr>
                <a:srgbClr val="8AD0D6"/>
              </a:buClr>
              <a:buAutoNum type="arabicPeriod"/>
            </a:pPr>
            <a:endParaRPr lang="de-AT" dirty="0">
              <a:latin typeface="Century Gothic" panose="020B0502020202020204"/>
              <a:cs typeface="Times"/>
            </a:endParaRPr>
          </a:p>
          <a:p>
            <a:pPr marL="457200" indent="-457200">
              <a:buClr>
                <a:srgbClr val="8AD0D6"/>
              </a:buClr>
              <a:buAutoNum type="arabicPeriod"/>
            </a:pPr>
            <a:endParaRPr lang="de-AT" dirty="0"/>
          </a:p>
          <a:p>
            <a:pPr marL="0" indent="0">
              <a:buClr>
                <a:srgbClr val="1E5155">
                  <a:lumMod val="40000"/>
                  <a:lumOff val="60000"/>
                </a:srgbClr>
              </a:buClr>
              <a:buNone/>
            </a:pPr>
            <a:endParaRPr lang="de-AT" dirty="0"/>
          </a:p>
          <a:p>
            <a:pPr marL="457200" indent="-457200">
              <a:buAutoNum type="arabicPeriod"/>
            </a:pP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424126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dissolve/>
      </p:transition>
    </mc:Choice>
    <mc:Fallback xmlns="">
      <p:transition spd="med">
        <p:dissolv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0F99B1-E773-D96C-EBEB-CFC4897FA8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318" r="6" b="35421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D86400-A79A-B871-BF6E-1D1507E959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70897" y="1346268"/>
            <a:ext cx="5568285" cy="2809475"/>
          </a:xfrm>
        </p:spPr>
        <p:txBody>
          <a:bodyPr>
            <a:normAutofit/>
          </a:bodyPr>
          <a:lstStyle/>
          <a:p>
            <a:pPr algn="l"/>
            <a:r>
              <a:rPr lang="de-AT" dirty="0">
                <a:cs typeface="Calibri Light"/>
              </a:rPr>
              <a:t>Über Mich</a:t>
            </a:r>
            <a:endParaRPr lang="de-AT">
              <a:cs typeface="Calibri Ligh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4F347A-9AB7-5B12-04A6-F2CC51442E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69341" y="4251279"/>
            <a:ext cx="5569714" cy="1037228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dirty="0">
                <a:cs typeface="Calibri"/>
              </a:rPr>
              <a:t>Kofler Taylor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491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dissolve/>
      </p:transition>
    </mc:Choice>
    <mc:Fallback xmlns="">
      <p:transition spd="med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>
                  <a:alpha val="20000"/>
                </a:schemeClr>
              </a:solidFill>
            </a:endParaRPr>
          </a:p>
        </p:txBody>
      </p:sp>
      <p:sp>
        <p:nvSpPr>
          <p:cNvPr id="7" name="Freeform: Shape 11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/>
          <a:effec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69C720-49B7-BBEC-D577-E8F598FFC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1645920"/>
            <a:ext cx="3522879" cy="4470821"/>
          </a:xfrm>
        </p:spPr>
        <p:txBody>
          <a:bodyPr vert="horz" lIns="91440" tIns="45720" rIns="91440" bIns="45720" rtlCol="0">
            <a:normAutofit/>
          </a:bodyPr>
          <a:lstStyle/>
          <a:p>
            <a:pPr algn="r"/>
            <a:r>
              <a:rPr lang="de-AT">
                <a:solidFill>
                  <a:srgbClr val="FFFFFF"/>
                </a:solidFill>
                <a:latin typeface="Times"/>
                <a:cs typeface="Calibri Light"/>
              </a:rPr>
              <a:t>Über mich:</a:t>
            </a:r>
            <a:endParaRPr lang="de-AT">
              <a:solidFill>
                <a:srgbClr val="FFFFFF"/>
              </a:solidFill>
              <a:latin typeface="Times"/>
              <a:cs typeface="Time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C0CF0-9C0E-4D02-4CC1-6C7278C406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4109" y="1645920"/>
            <a:ext cx="5919503" cy="447082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charset="2"/>
              <a:buChar char="•"/>
            </a:pPr>
            <a:r>
              <a:rPr lang="en-US" dirty="0">
                <a:latin typeface="Times"/>
                <a:cs typeface="Calibri"/>
              </a:rPr>
              <a:t> Taylor Renee Kofler</a:t>
            </a:r>
            <a:endParaRPr lang="en-US" dirty="0"/>
          </a:p>
          <a:p>
            <a:pPr>
              <a:buFont typeface="Arial" charset="2"/>
              <a:buChar char="•"/>
            </a:pPr>
            <a:r>
              <a:rPr lang="en-US" dirty="0">
                <a:latin typeface="Times"/>
                <a:cs typeface="Calibri"/>
              </a:rPr>
              <a:t>15 Jahre alt</a:t>
            </a:r>
          </a:p>
          <a:p>
            <a:pPr>
              <a:buFont typeface="Arial" charset="2"/>
              <a:buChar char="•"/>
            </a:pPr>
            <a:r>
              <a:rPr lang="en-US" dirty="0">
                <a:latin typeface="Times"/>
                <a:cs typeface="Calibri"/>
              </a:rPr>
              <a:t>Aus Villach/Kärnten</a:t>
            </a:r>
          </a:p>
          <a:p>
            <a:pPr>
              <a:buFont typeface="Arial" charset="2"/>
              <a:buChar char="•"/>
            </a:pPr>
            <a:r>
              <a:rPr lang="de-AT" dirty="0">
                <a:latin typeface="Times"/>
                <a:cs typeface="Calibri"/>
              </a:rPr>
              <a:t>Letzte Schuleinrichtung: MS Villach Auen</a:t>
            </a:r>
          </a:p>
          <a:p>
            <a:endParaRPr lang="de-AT">
              <a:cs typeface="Calibri"/>
            </a:endParaRPr>
          </a:p>
          <a:p>
            <a:endParaRPr lang="en-US">
              <a:cs typeface="Calibri"/>
            </a:endParaRPr>
          </a:p>
          <a:p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823962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600">
        <p:dissolve/>
      </p:transition>
    </mc:Choice>
    <mc:Fallback xmlns="">
      <p:transition spd="med">
        <p:dissolv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>
                  <a:alpha val="20000"/>
                </a:schemeClr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/>
          <a:effec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08C42C-CF26-ABDC-F2B6-DA0BD0F98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1645920"/>
            <a:ext cx="3522879" cy="4470821"/>
          </a:xfrm>
        </p:spPr>
        <p:txBody>
          <a:bodyPr>
            <a:normAutofit/>
          </a:bodyPr>
          <a:lstStyle/>
          <a:p>
            <a:pPr algn="r"/>
            <a:r>
              <a:rPr lang="de-AT">
                <a:solidFill>
                  <a:srgbClr val="FFFFFF"/>
                </a:solidFill>
                <a:cs typeface="Calibri Light"/>
              </a:rPr>
              <a:t>Meine Hobbys</a:t>
            </a:r>
            <a:endParaRPr lang="de-AT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BAEAF-6EAE-0348-AD18-1680240898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4109" y="1645920"/>
            <a:ext cx="5919503" cy="447082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de-AT" dirty="0">
                <a:cs typeface="Calibri"/>
              </a:rPr>
              <a:t>Lesen (Digital und Analog)</a:t>
            </a:r>
          </a:p>
          <a:p>
            <a:r>
              <a:rPr lang="de-AT" dirty="0">
                <a:cs typeface="Calibri"/>
              </a:rPr>
              <a:t>Schwimmen</a:t>
            </a:r>
          </a:p>
          <a:p>
            <a:r>
              <a:rPr lang="de-AT" dirty="0">
                <a:cs typeface="Calibri"/>
              </a:rPr>
              <a:t>PC (egal ob zocken oder arbeiten)</a:t>
            </a:r>
          </a:p>
          <a:p>
            <a:r>
              <a:rPr lang="de-AT" dirty="0">
                <a:cs typeface="Calibri"/>
              </a:rPr>
              <a:t>Mit Freunden treffen (sei es im Internet oder in der Stadt)</a:t>
            </a:r>
          </a:p>
          <a:p>
            <a:endParaRPr lang="de-AT" dirty="0">
              <a:cs typeface="Calibri"/>
            </a:endParaRPr>
          </a:p>
          <a:p>
            <a:endParaRPr lang="de-AT" dirty="0">
              <a:cs typeface="Calibri"/>
            </a:endParaRPr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998574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600">
        <p:dissolve/>
      </p:transition>
    </mc:Choice>
    <mc:Fallback xmlns="">
      <p:transition spd="med">
        <p:dissolv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>
                  <a:alpha val="20000"/>
                </a:schemeClr>
              </a:solidFill>
            </a:endParaRPr>
          </a:p>
        </p:txBody>
      </p:sp>
      <p:sp>
        <p:nvSpPr>
          <p:cNvPr id="7" name="Freeform: Shape 11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/>
          <a:effec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7DBCE8-4240-BA33-3764-DE1EE0F27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1645920"/>
            <a:ext cx="3522879" cy="4470821"/>
          </a:xfrm>
        </p:spPr>
        <p:txBody>
          <a:bodyPr>
            <a:normAutofit/>
          </a:bodyPr>
          <a:lstStyle/>
          <a:p>
            <a:pPr algn="ctr"/>
            <a:r>
              <a:rPr lang="de-AT" dirty="0">
                <a:solidFill>
                  <a:srgbClr val="FFFFFF"/>
                </a:solidFill>
                <a:latin typeface="Times"/>
                <a:cs typeface="Calibri Light"/>
              </a:rPr>
              <a:t>Welches Tier wäre ich,</a:t>
            </a:r>
            <a:br>
              <a:rPr lang="de-AT" dirty="0">
                <a:solidFill>
                  <a:srgbClr val="FFFFFF"/>
                </a:solidFill>
                <a:latin typeface="Times"/>
                <a:cs typeface="Calibri Light"/>
              </a:rPr>
            </a:br>
            <a:r>
              <a:rPr lang="de-AT" dirty="0">
                <a:solidFill>
                  <a:srgbClr val="FFFFFF"/>
                </a:solidFill>
                <a:latin typeface="Times"/>
                <a:cs typeface="Calibri Light"/>
              </a:rPr>
              <a:t>wenn ich eines sein müsste?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542B6-D141-2365-FAEE-EC80FF535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4109" y="1645920"/>
            <a:ext cx="5919503" cy="447082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de-AT">
                <a:latin typeface="Times"/>
                <a:cs typeface="Calibri"/>
              </a:rPr>
              <a:t>Erdmännchen:</a:t>
            </a:r>
          </a:p>
          <a:p>
            <a:pPr marL="0" indent="0">
              <a:buNone/>
            </a:pPr>
            <a:r>
              <a:rPr lang="de-AT">
                <a:latin typeface="Times"/>
                <a:cs typeface="Calibri"/>
              </a:rPr>
              <a:t>Sozial</a:t>
            </a:r>
          </a:p>
          <a:p>
            <a:pPr marL="0" indent="0">
              <a:buNone/>
            </a:pPr>
            <a:r>
              <a:rPr lang="de-AT">
                <a:latin typeface="Times"/>
                <a:cs typeface="Calibri"/>
              </a:rPr>
              <a:t>Hilfsbereit</a:t>
            </a:r>
          </a:p>
          <a:p>
            <a:pPr marL="0" indent="0">
              <a:buNone/>
            </a:pPr>
            <a:r>
              <a:rPr lang="de-AT">
                <a:latin typeface="Times"/>
                <a:cs typeface="Calibri"/>
              </a:rPr>
              <a:t>Loyal</a:t>
            </a:r>
          </a:p>
          <a:p>
            <a:pPr marL="0" indent="0">
              <a:buNone/>
            </a:pPr>
            <a:r>
              <a:rPr lang="de-AT">
                <a:latin typeface="Times"/>
                <a:cs typeface="Calibri"/>
              </a:rPr>
              <a:t>Vorsichtig</a:t>
            </a:r>
          </a:p>
          <a:p>
            <a:pPr marL="0" indent="0">
              <a:buNone/>
            </a:pPr>
            <a:endParaRPr lang="de-AT">
              <a:cs typeface="Calibri"/>
            </a:endParaRPr>
          </a:p>
          <a:p>
            <a:pPr marL="0" indent="0">
              <a:buNone/>
            </a:pPr>
            <a:endParaRPr lang="de-AT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441777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600">
        <p:dissolve/>
      </p:transition>
    </mc:Choice>
    <mc:Fallback xmlns="">
      <p:transition spd="med">
        <p:dissolv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F8A5B-7978-D519-B1D2-F82174A2B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sz="3600" dirty="0">
                <a:cs typeface="Calibri Light"/>
              </a:rPr>
              <a:t>Warum bin ich für den Beruf geeignet/ Warum nicht? (Meine Sicht)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2050B3-BEB1-AF6F-B6EC-9FB2C6989D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Für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4E7E6-D9DD-57D5-3592-E4B6472418F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Wingdings" panose="020B0604020202020204" pitchFamily="34" charset="0"/>
              <a:buChar char="§"/>
            </a:pPr>
            <a:r>
              <a:rPr lang="de-AT" sz="2000" dirty="0">
                <a:cs typeface="Calibri"/>
              </a:rPr>
              <a:t>Sozial</a:t>
            </a:r>
            <a:endParaRPr lang="en-US" dirty="0">
              <a:cs typeface="Calibri" panose="020F0502020204030204"/>
            </a:endParaRPr>
          </a:p>
          <a:p>
            <a:pPr marL="342900" indent="-342900">
              <a:buFont typeface="Wingdings" panose="020B0604020202020204" pitchFamily="34" charset="0"/>
              <a:buChar char="§"/>
            </a:pPr>
            <a:r>
              <a:rPr lang="de-AT" sz="2000" dirty="0">
                <a:cs typeface="Calibri"/>
              </a:rPr>
              <a:t>Aufmerksam</a:t>
            </a:r>
          </a:p>
          <a:p>
            <a:pPr marL="342900" indent="-342900">
              <a:buFont typeface="Wingdings" panose="020B0604020202020204" pitchFamily="34" charset="0"/>
              <a:buChar char="§"/>
            </a:pPr>
            <a:r>
              <a:rPr lang="de-AT" sz="2000" dirty="0">
                <a:cs typeface="Calibri"/>
              </a:rPr>
              <a:t>Interessiert</a:t>
            </a:r>
          </a:p>
          <a:p>
            <a:pPr marL="342900" indent="-342900">
              <a:buFont typeface="Wingdings" panose="020B0604020202020204" pitchFamily="34" charset="0"/>
              <a:buChar char="§"/>
            </a:pPr>
            <a:r>
              <a:rPr lang="de-AT" sz="2000" dirty="0">
                <a:cs typeface="Calibri"/>
              </a:rPr>
              <a:t>Lernfähig</a:t>
            </a:r>
          </a:p>
          <a:p>
            <a:pPr marL="342900" indent="-342900">
              <a:buFont typeface="Wingdings" panose="020B0604020202020204" pitchFamily="34" charset="0"/>
              <a:buChar char="§"/>
            </a:pPr>
            <a:r>
              <a:rPr lang="de-AT" sz="2000" dirty="0">
                <a:cs typeface="Calibri"/>
              </a:rPr>
              <a:t>Teamfähig</a:t>
            </a:r>
          </a:p>
          <a:p>
            <a:pPr marL="342900" indent="-342900">
              <a:buFont typeface="Wingdings" panose="020B0604020202020204" pitchFamily="34" charset="0"/>
              <a:buChar char="§"/>
            </a:pPr>
            <a:r>
              <a:rPr lang="de-AT" sz="2000" dirty="0">
                <a:cs typeface="Calibri"/>
              </a:rPr>
              <a:t>Geduldig</a:t>
            </a:r>
          </a:p>
          <a:p>
            <a:pPr marL="342900" indent="-342900">
              <a:buFont typeface="Wingdings" panose="020B0604020202020204" pitchFamily="34" charset="0"/>
              <a:buChar char="§"/>
            </a:pPr>
            <a:r>
              <a:rPr lang="de-AT" sz="2000" dirty="0">
                <a:cs typeface="Calibri"/>
              </a:rPr>
              <a:t>Höfflich</a:t>
            </a:r>
          </a:p>
          <a:p>
            <a:pPr marL="342900" indent="-342900">
              <a:buFont typeface="Wingdings" panose="020B0604020202020204" pitchFamily="34" charset="0"/>
              <a:buChar char="§"/>
            </a:pPr>
            <a:r>
              <a:rPr lang="de-AT" sz="2000" dirty="0">
                <a:cs typeface="Calibri"/>
              </a:rPr>
              <a:t>Humorvoll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E56A9F-6ECF-77C8-E338-58B864BA0E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Gegen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D46AD0-B0AF-0550-22CD-E9883EF0B7C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AT" sz="2000" dirty="0">
                <a:cs typeface="Calibri"/>
              </a:rPr>
              <a:t>Recht Schüchtern</a:t>
            </a:r>
          </a:p>
          <a:p>
            <a:r>
              <a:rPr lang="de-AT" sz="2000" dirty="0">
                <a:cs typeface="Calibri"/>
              </a:rPr>
              <a:t>Manchmal Emotionslos</a:t>
            </a:r>
          </a:p>
          <a:p>
            <a:r>
              <a:rPr lang="de-AT" sz="2000" dirty="0">
                <a:cs typeface="Calibri"/>
              </a:rPr>
              <a:t>Manchmal schnell gelangweilt</a:t>
            </a:r>
          </a:p>
          <a:p>
            <a:r>
              <a:rPr lang="de-AT" sz="2000" dirty="0">
                <a:cs typeface="Calibri"/>
              </a:rPr>
              <a:t>Ab und zu recht launisch</a:t>
            </a:r>
          </a:p>
          <a:p>
            <a:pPr marL="0" indent="0">
              <a:buNone/>
            </a:pPr>
            <a:endParaRPr lang="de-AT" sz="2000" dirty="0">
              <a:cs typeface="Calibri"/>
            </a:endParaRPr>
          </a:p>
          <a:p>
            <a:endParaRPr lang="de-AT" sz="20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57190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dissolve/>
      </p:transition>
    </mc:Choice>
    <mc:Fallback xmlns="">
      <p:transition spd="med">
        <p:dissolv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3A864A6-FBD1-42C3-A680-A90325A71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/>
              <a:t>https://www.youtube.com/watch?v=OSW7doVZ5kQ</a:t>
            </a:r>
          </a:p>
        </p:txBody>
      </p:sp>
    </p:spTree>
    <p:extLst>
      <p:ext uri="{BB962C8B-B14F-4D97-AF65-F5344CB8AC3E}">
        <p14:creationId xmlns:p14="http://schemas.microsoft.com/office/powerpoint/2010/main" val="4102804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dissolve/>
      </p:transition>
    </mc:Choice>
    <mc:Fallback xmlns="">
      <p:transition spd="med">
        <p:dissolv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22C8D1-2015-5E40-BED1-C0BB0CE2231C}"/>
              </a:ext>
            </a:extLst>
          </p:cNvPr>
          <p:cNvSpPr txBox="1"/>
          <p:nvPr/>
        </p:nvSpPr>
        <p:spPr>
          <a:xfrm>
            <a:off x="1989115" y="1167740"/>
            <a:ext cx="8421583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AT" sz="7200" b="1" i="1" dirty="0">
                <a:latin typeface="Times"/>
                <a:cs typeface="Times"/>
              </a:rPr>
              <a:t>Vielen Dank für Ihre Aufmerksamkeit!</a:t>
            </a:r>
          </a:p>
          <a:p>
            <a:pPr algn="ctr"/>
            <a:endParaRPr lang="de-AT" sz="7200" b="1" i="1" dirty="0">
              <a:latin typeface="Times"/>
              <a:cs typeface="Times"/>
            </a:endParaRPr>
          </a:p>
          <a:p>
            <a:r>
              <a:rPr lang="de-AT" sz="7200" b="1" i="1" dirty="0">
                <a:latin typeface="Times"/>
                <a:cs typeface="Times"/>
              </a:rPr>
              <a:t>Schönen Tag noch!</a:t>
            </a:r>
          </a:p>
        </p:txBody>
      </p:sp>
    </p:spTree>
    <p:extLst>
      <p:ext uri="{BB962C8B-B14F-4D97-AF65-F5344CB8AC3E}">
        <p14:creationId xmlns:p14="http://schemas.microsoft.com/office/powerpoint/2010/main" val="199774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dissolve/>
      </p:transition>
    </mc:Choice>
    <mc:Fallback xmlns="">
      <p:transition spd="med">
        <p:dissolv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558</Words>
  <Application>Microsoft Office PowerPoint</Application>
  <PresentationFormat>Breitbild</PresentationFormat>
  <Paragraphs>96</Paragraphs>
  <Slides>13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9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23" baseType="lpstr">
      <vt:lpstr>Arial</vt:lpstr>
      <vt:lpstr>Calibri</vt:lpstr>
      <vt:lpstr>Calibri Light</vt:lpstr>
      <vt:lpstr>Century Gothic</vt:lpstr>
      <vt:lpstr>Courier New</vt:lpstr>
      <vt:lpstr>Times</vt:lpstr>
      <vt:lpstr>Times New Roman</vt:lpstr>
      <vt:lpstr>Wingdings</vt:lpstr>
      <vt:lpstr>Wingdings 3</vt:lpstr>
      <vt:lpstr>Ion</vt:lpstr>
      <vt:lpstr>Applikationsentwicklung</vt:lpstr>
      <vt:lpstr>Lehrlingsentschädigung</vt:lpstr>
      <vt:lpstr>Welche Eigenschaftensollte man haben?</vt:lpstr>
      <vt:lpstr>Firmen in Kärnten</vt:lpstr>
      <vt:lpstr>Aufgaben als Applikationsentwickler</vt:lpstr>
      <vt:lpstr>Beispiele der Schwerpunkte im Gesetzlichen Berufsbild:</vt:lpstr>
      <vt:lpstr>Über Mich</vt:lpstr>
      <vt:lpstr>Über mich:</vt:lpstr>
      <vt:lpstr>Meine Hobbys</vt:lpstr>
      <vt:lpstr>Welches Tier wäre ich, wenn ich eines sein müsste?</vt:lpstr>
      <vt:lpstr>Warum bin ich für den Beruf geeignet/ Warum nicht? (Meine Sicht)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viuser</dc:creator>
  <cp:lastModifiedBy>Ivica </cp:lastModifiedBy>
  <cp:revision>565</cp:revision>
  <dcterms:created xsi:type="dcterms:W3CDTF">2023-03-24T08:13:13Z</dcterms:created>
  <dcterms:modified xsi:type="dcterms:W3CDTF">2023-03-24T11:50:38Z</dcterms:modified>
</cp:coreProperties>
</file>