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304" r:id="rId5"/>
    <p:sldId id="303" r:id="rId6"/>
    <p:sldId id="287" r:id="rId7"/>
    <p:sldId id="286" r:id="rId8"/>
    <p:sldId id="288" r:id="rId9"/>
    <p:sldId id="289" r:id="rId10"/>
    <p:sldId id="290" r:id="rId11"/>
    <p:sldId id="291" r:id="rId12"/>
    <p:sldId id="292" r:id="rId13"/>
    <p:sldId id="294" r:id="rId14"/>
    <p:sldId id="295" r:id="rId15"/>
    <p:sldId id="305" r:id="rId16"/>
    <p:sldId id="306" r:id="rId17"/>
    <p:sldId id="307" r:id="rId18"/>
    <p:sldId id="308" r:id="rId19"/>
    <p:sldId id="309" r:id="rId20"/>
    <p:sldId id="311" r:id="rId21"/>
    <p:sldId id="318" r:id="rId22"/>
    <p:sldId id="310" r:id="rId23"/>
    <p:sldId id="314" r:id="rId24"/>
    <p:sldId id="312" r:id="rId25"/>
    <p:sldId id="317" r:id="rId26"/>
    <p:sldId id="31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2" autoAdjust="0"/>
    <p:restoredTop sz="94660"/>
  </p:normalViewPr>
  <p:slideViewPr>
    <p:cSldViewPr snapToGrid="0">
      <p:cViewPr>
        <p:scale>
          <a:sx n="122" d="100"/>
          <a:sy n="122" d="100"/>
        </p:scale>
        <p:origin x="-114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 dirty="0" smtClean="0"/>
              <a:t>C# – Strukturierte Programmierung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AT" dirty="0"/>
              <a:t>Lehrgang IT-Informatik</a:t>
            </a:r>
          </a:p>
          <a:p>
            <a:r>
              <a:rPr lang="de-AT" dirty="0" smtClean="0"/>
              <a:t>Marco Langhans, Petar </a:t>
            </a:r>
            <a:r>
              <a:rPr lang="de-AT" dirty="0" err="1" smtClean="0"/>
              <a:t>Cekic</a:t>
            </a:r>
            <a:r>
              <a:rPr lang="de-AT" dirty="0" smtClean="0"/>
              <a:t>, Jakob Danciu</a:t>
            </a:r>
          </a:p>
          <a:p>
            <a:r>
              <a:rPr lang="de-AT" dirty="0" smtClean="0"/>
              <a:t> </a:t>
            </a:r>
            <a:r>
              <a:rPr lang="de-AT" dirty="0" err="1"/>
              <a:t>IT-L@bs</a:t>
            </a:r>
            <a:r>
              <a:rPr lang="de-AT" dirty="0"/>
              <a:t> BFI</a:t>
            </a:r>
          </a:p>
          <a:p>
            <a:endParaRPr lang="de-AT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de-AT" dirty="0" smtClean="0"/>
              <a:t>Lehrgang IT-Informatik </a:t>
            </a:r>
            <a:r>
              <a:rPr lang="de-AT" dirty="0" err="1" smtClean="0"/>
              <a:t>IT-L@abs</a:t>
            </a:r>
            <a:r>
              <a:rPr lang="de-AT" dirty="0" smtClean="0"/>
              <a:t> BFI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79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77334" y="578338"/>
            <a:ext cx="8596668" cy="1320800"/>
          </a:xfrm>
        </p:spPr>
        <p:txBody>
          <a:bodyPr/>
          <a:lstStyle/>
          <a:p>
            <a:r>
              <a:rPr lang="de-AT" dirty="0" smtClean="0"/>
              <a:t>C#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smtClean="0"/>
              <a:t>C# </a:t>
            </a:r>
            <a:r>
              <a:rPr lang="de-AT" dirty="0"/>
              <a:t>ist bei </a:t>
            </a:r>
            <a:r>
              <a:rPr lang="de-AT" dirty="0" smtClean="0"/>
              <a:t>ECMA </a:t>
            </a:r>
            <a:r>
              <a:rPr lang="de-AT" dirty="0"/>
              <a:t>und ISO als Standard registriert</a:t>
            </a:r>
            <a:r>
              <a:rPr lang="de-AT" dirty="0" smtClean="0"/>
              <a:t>.</a:t>
            </a:r>
          </a:p>
          <a:p>
            <a:r>
              <a:rPr lang="de-AT" dirty="0" smtClean="0"/>
              <a:t>Entworfen </a:t>
            </a:r>
            <a:r>
              <a:rPr lang="de-AT" dirty="0"/>
              <a:t>von Microsoft</a:t>
            </a:r>
          </a:p>
          <a:p>
            <a:r>
              <a:rPr lang="de-AT" dirty="0" smtClean="0"/>
              <a:t>Strukturierte Sprache, auch für größere Programme</a:t>
            </a:r>
          </a:p>
          <a:p>
            <a:r>
              <a:rPr lang="de-AT" dirty="0" smtClean="0"/>
              <a:t>Angelehnt an englischen Sprachgebrauch</a:t>
            </a:r>
          </a:p>
        </p:txBody>
      </p:sp>
    </p:spTree>
    <p:extLst>
      <p:ext uri="{BB962C8B-B14F-4D97-AF65-F5344CB8AC3E}">
        <p14:creationId xmlns:p14="http://schemas.microsoft.com/office/powerpoint/2010/main" val="2030000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Grundlegender Aufbau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4895326"/>
            <a:ext cx="8738515" cy="4180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 sind durch Programmiersprache vorgegeben (Keywords)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2607521"/>
            <a:ext cx="51385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AT" dirty="0" err="1" smtClean="0">
                <a:solidFill>
                  <a:srgbClr val="FF0000"/>
                </a:solidFill>
              </a:rPr>
              <a:t>namespace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/>
              <a:t>HelloWorld</a:t>
            </a:r>
            <a:r>
              <a:rPr lang="de-AT" dirty="0"/>
              <a:t> </a:t>
            </a:r>
            <a:endParaRPr lang="de-AT" dirty="0" smtClean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AT" dirty="0" smtClean="0">
                <a:solidFill>
                  <a:srgbClr val="FF0000"/>
                </a:solidFill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AT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AT" dirty="0">
                <a:solidFill>
                  <a:srgbClr val="FF0000"/>
                </a:solidFill>
              </a:rPr>
              <a:t>}</a:t>
            </a: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2821354" y="1989123"/>
            <a:ext cx="3152605" cy="6183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>
            <a:off x="1219200" y="2776756"/>
            <a:ext cx="4754758" cy="576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6052221" y="1780083"/>
            <a:ext cx="1911804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Programm-Name</a:t>
            </a: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6052221" y="2567716"/>
            <a:ext cx="3363628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Programm-Code / Befehle</a:t>
            </a:r>
          </a:p>
        </p:txBody>
      </p:sp>
    </p:spTree>
    <p:extLst>
      <p:ext uri="{BB962C8B-B14F-4D97-AF65-F5344CB8AC3E}">
        <p14:creationId xmlns:p14="http://schemas.microsoft.com/office/powerpoint/2010/main" val="2639625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Usings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4895326"/>
            <a:ext cx="8738515" cy="4180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Wörter/Zeichen/Zeichen sind durch Programmiersprache vorgegeben (Keywords)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1884244"/>
            <a:ext cx="5138580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Using System;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ein_einfaches_programm</a:t>
            </a:r>
            <a:endParaRPr kumimoji="0" lang="de-DE" altLang="de-DE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>
            <a:off x="2705101" y="1884244"/>
            <a:ext cx="3347120" cy="2112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6052221" y="1629929"/>
            <a:ext cx="5238986" cy="1612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Bestimmten Bestandteil (Unit)</a:t>
            </a:r>
          </a:p>
          <a:p>
            <a:pPr marL="0" indent="0">
              <a:buFont typeface="Wingdings 3" charset="2"/>
              <a:buNone/>
            </a:pPr>
            <a:r>
              <a:rPr lang="de-AT" i="1" dirty="0" smtClean="0"/>
              <a:t>nutzen</a:t>
            </a:r>
          </a:p>
        </p:txBody>
      </p:sp>
    </p:spTree>
    <p:extLst>
      <p:ext uri="{BB962C8B-B14F-4D97-AF65-F5344CB8AC3E}">
        <p14:creationId xmlns:p14="http://schemas.microsoft.com/office/powerpoint/2010/main" val="157442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Kommentare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4895326"/>
            <a:ext cx="8738515" cy="41808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 sind durch Programmiersprache vorgegeben (Keywords)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2022743"/>
            <a:ext cx="513858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ein_einfaches_programm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{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de-AT" altLang="de-DE" dirty="0" smtClean="0"/>
              <a:t>//</a:t>
            </a:r>
            <a:r>
              <a:rPr lang="de-AT" dirty="0" smtClean="0"/>
              <a:t> Ein Kommentar </a:t>
            </a: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lang="de-DE" altLang="de-DE" dirty="0"/>
              <a:t>/* </a:t>
            </a:r>
            <a:r>
              <a:rPr lang="de-DE" altLang="de-DE" dirty="0" smtClean="0"/>
              <a:t>mehrzeiliges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/>
              <a:t>	</a:t>
            </a:r>
            <a:r>
              <a:rPr lang="de-DE" altLang="de-DE" dirty="0" smtClean="0"/>
              <a:t> </a:t>
            </a:r>
            <a:r>
              <a:rPr lang="de-DE" altLang="de-DE" dirty="0"/>
              <a:t>Kommentar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4530811" y="1989123"/>
            <a:ext cx="1443147" cy="209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>
            <a:off x="3894364" y="2776756"/>
            <a:ext cx="2079595" cy="132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6052221" y="1780083"/>
            <a:ext cx="1911804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programm-Name</a:t>
            </a: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6052221" y="2567716"/>
            <a:ext cx="3363628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Kommentar (wird ignoriert)</a:t>
            </a:r>
          </a:p>
        </p:txBody>
      </p:sp>
      <p:cxnSp>
        <p:nvCxnSpPr>
          <p:cNvPr id="10" name="Gerade Verbindung mit Pfeil 9"/>
          <p:cNvCxnSpPr/>
          <p:nvPr/>
        </p:nvCxnSpPr>
        <p:spPr>
          <a:xfrm flipH="1" flipV="1">
            <a:off x="3321538" y="3282462"/>
            <a:ext cx="1765024" cy="1673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/>
          <p:cNvSpPr txBox="1">
            <a:spLocks/>
          </p:cNvSpPr>
          <p:nvPr/>
        </p:nvSpPr>
        <p:spPr>
          <a:xfrm>
            <a:off x="5135084" y="3192214"/>
            <a:ext cx="2713516" cy="6050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Mehrzeiliges Kommentar (wird ignoriert)</a:t>
            </a:r>
          </a:p>
        </p:txBody>
      </p:sp>
    </p:spTree>
    <p:extLst>
      <p:ext uri="{BB962C8B-B14F-4D97-AF65-F5344CB8AC3E}">
        <p14:creationId xmlns:p14="http://schemas.microsoft.com/office/powerpoint/2010/main" val="2980801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Variablen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5911467"/>
            <a:ext cx="8227769" cy="418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3705837"/>
            <a:ext cx="4940871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ein_einfaches_programm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Variable1 = “</a:t>
            </a:r>
            <a:r>
              <a:rPr lang="de-DE" altLang="de-DE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test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“;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>
            <a:off x="2679701" y="4112310"/>
            <a:ext cx="3294258" cy="418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6052221" y="3903270"/>
            <a:ext cx="3536621" cy="418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Variable mit Name und Datentyp</a:t>
            </a:r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166631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 smtClean="0"/>
              <a:t>Um veränderliche Werte im Programm speichern zu können</a:t>
            </a:r>
          </a:p>
          <a:p>
            <a:r>
              <a:rPr lang="de-AT" dirty="0" smtClean="0"/>
              <a:t>Variable hat immer unveränderliche Eigenschaften: Name und Datentyp</a:t>
            </a:r>
          </a:p>
          <a:p>
            <a:endParaRPr lang="de-AT" dirty="0"/>
          </a:p>
        </p:txBody>
      </p:sp>
      <p:cxnSp>
        <p:nvCxnSpPr>
          <p:cNvPr id="14" name="Gerade Verbindung mit Pfeil 13"/>
          <p:cNvCxnSpPr/>
          <p:nvPr/>
        </p:nvCxnSpPr>
        <p:spPr>
          <a:xfrm flipH="1">
            <a:off x="4975668" y="4683816"/>
            <a:ext cx="998292" cy="342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6052220" y="4487865"/>
            <a:ext cx="3536621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Zuweisung</a:t>
            </a:r>
          </a:p>
        </p:txBody>
      </p:sp>
    </p:spTree>
    <p:extLst>
      <p:ext uri="{BB962C8B-B14F-4D97-AF65-F5344CB8AC3E}">
        <p14:creationId xmlns:p14="http://schemas.microsoft.com/office/powerpoint/2010/main" val="308681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Konstanten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5911467"/>
            <a:ext cx="8227769" cy="418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82427" y="3330673"/>
            <a:ext cx="9321800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ein_einfaches_programm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Variable1 = “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Pepe“; </a:t>
            </a:r>
            <a:r>
              <a:rPr kumimoji="0" lang="de-DE" altLang="de-DE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endParaRPr kumimoji="0" lang="de-DE" altLang="de-DE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 flipV="1">
            <a:off x="1742831" y="4509477"/>
            <a:ext cx="1156678" cy="9079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2899508" y="5208403"/>
            <a:ext cx="3238228" cy="4180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Konstante mit Wertzuweisung</a:t>
            </a:r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1701800"/>
            <a:ext cx="8596668" cy="38452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 smtClean="0"/>
              <a:t>Um fixe (konstante) Werte in Variable zu speichern</a:t>
            </a:r>
          </a:p>
          <a:p>
            <a:r>
              <a:rPr lang="de-AT" dirty="0" smtClean="0"/>
              <a:t>Datentyp wird durch Wert bestimmt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6593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Einfache Befehle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77334" y="4895326"/>
            <a:ext cx="8227769" cy="418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3" y="2161242"/>
            <a:ext cx="723476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ein_einfaches_programm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;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(“Dies ist ein Programm“);</a:t>
            </a:r>
            <a:endParaRPr lang="de-DE" altLang="de-DE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 flipV="1">
            <a:off x="3368431" y="3344985"/>
            <a:ext cx="2541945" cy="740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5910374" y="3947604"/>
            <a:ext cx="3363628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Name des Befehls</a:t>
            </a:r>
          </a:p>
        </p:txBody>
      </p:sp>
    </p:spTree>
    <p:extLst>
      <p:ext uri="{BB962C8B-B14F-4D97-AF65-F5344CB8AC3E}">
        <p14:creationId xmlns:p14="http://schemas.microsoft.com/office/powerpoint/2010/main" val="321889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Einfache Befehle</a:t>
            </a:r>
            <a:endParaRPr lang="de-AT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677334" y="1752816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 err="1" smtClean="0"/>
              <a:t>Console.WriteLine</a:t>
            </a:r>
            <a:r>
              <a:rPr lang="de-AT" dirty="0"/>
              <a:t>	</a:t>
            </a:r>
            <a:r>
              <a:rPr lang="de-AT" dirty="0" smtClean="0">
                <a:sym typeface="Wingdings" panose="05000000000000000000" pitchFamily="2" charset="2"/>
              </a:rPr>
              <a:t>	Gibt eine Textzeile aus</a:t>
            </a:r>
          </a:p>
          <a:p>
            <a:r>
              <a:rPr lang="de-AT" dirty="0" err="1" smtClean="0">
                <a:sym typeface="Wingdings" panose="05000000000000000000" pitchFamily="2" charset="2"/>
              </a:rPr>
              <a:t>Console.Write</a:t>
            </a:r>
            <a:r>
              <a:rPr lang="de-AT" dirty="0" smtClean="0">
                <a:sym typeface="Wingdings" panose="05000000000000000000" pitchFamily="2" charset="2"/>
              </a:rPr>
              <a:t>			Gibt Text aus (ohne \r\n)</a:t>
            </a:r>
          </a:p>
          <a:p>
            <a:r>
              <a:rPr lang="de-AT" dirty="0" err="1" smtClean="0">
                <a:sym typeface="Wingdings" panose="05000000000000000000" pitchFamily="2" charset="2"/>
              </a:rPr>
              <a:t>Console.ReadLine</a:t>
            </a:r>
            <a:r>
              <a:rPr lang="de-AT" dirty="0">
                <a:sym typeface="Wingdings" panose="05000000000000000000" pitchFamily="2" charset="2"/>
              </a:rPr>
              <a:t>	</a:t>
            </a:r>
            <a:r>
              <a:rPr lang="de-AT" dirty="0" smtClean="0">
                <a:sym typeface="Wingdings" panose="05000000000000000000" pitchFamily="2" charset="2"/>
              </a:rPr>
              <a:t>	Liest eine Textzeile ein</a:t>
            </a:r>
          </a:p>
          <a:p>
            <a:r>
              <a:rPr lang="de-AT" dirty="0" err="1" smtClean="0">
                <a:sym typeface="Wingdings" panose="05000000000000000000" pitchFamily="2" charset="2"/>
              </a:rPr>
              <a:t>Console.Read</a:t>
            </a:r>
            <a:r>
              <a:rPr lang="de-AT" dirty="0" smtClean="0">
                <a:sym typeface="Wingdings" panose="05000000000000000000" pitchFamily="2" charset="2"/>
              </a:rPr>
              <a:t>		 	Liest ein Textzeichen ein</a:t>
            </a:r>
            <a:endParaRPr lang="de-AT" dirty="0" smtClean="0"/>
          </a:p>
        </p:txBody>
      </p:sp>
    </p:spTree>
    <p:extLst>
      <p:ext uri="{BB962C8B-B14F-4D97-AF65-F5344CB8AC3E}">
        <p14:creationId xmlns:p14="http://schemas.microsoft.com/office/powerpoint/2010/main" val="15181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Einfaches Beispiel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04800" y="2192022"/>
            <a:ext cx="86672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namespace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einlesen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Geld;</a:t>
            </a: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(“Geben Sie einen Betrag   ein“);</a:t>
            </a:r>
            <a:endParaRPr lang="de-DE" altLang="de-DE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Console.ReadLine</a:t>
            </a:r>
            <a:r>
              <a:rPr lang="de-DE" altLang="de-DE" dirty="0" smtClean="0">
                <a:latin typeface="Lucida Console" panose="020B0609040504020204" pitchFamily="49" charset="0"/>
              </a:rPr>
              <a:t>(Geld);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(“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Betrag:“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+ 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Convert.ToStr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(Geld));</a:t>
            </a:r>
            <a:endParaRPr lang="de-DE" altLang="de-DE" dirty="0">
              <a:solidFill>
                <a:srgbClr val="00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}</a:t>
            </a:r>
            <a:endParaRPr kumimoji="0" lang="de-DE" altLang="de-DE" sz="7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 flipH="1" flipV="1">
            <a:off x="3798277" y="3492727"/>
            <a:ext cx="41022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 flipV="1">
            <a:off x="4429369" y="4064000"/>
            <a:ext cx="3088230" cy="773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7766608" y="3241193"/>
            <a:ext cx="3145147" cy="6015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Betrag wird in Variable </a:t>
            </a:r>
            <a:br>
              <a:rPr lang="de-AT" i="1" dirty="0" smtClean="0"/>
            </a:br>
            <a:r>
              <a:rPr lang="de-AT" i="1" dirty="0" smtClean="0"/>
              <a:t>„Geld“ gespeichert (Ganzzahl)</a:t>
            </a: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7228429" y="4837640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Eingegebener Betrag wird </a:t>
            </a:r>
          </a:p>
          <a:p>
            <a:pPr marL="0" indent="0">
              <a:buFont typeface="Wingdings 3" charset="2"/>
              <a:buNone/>
            </a:pPr>
            <a:r>
              <a:rPr lang="de-AT" i="1" dirty="0" smtClean="0"/>
              <a:t>ausgegeben</a:t>
            </a:r>
          </a:p>
        </p:txBody>
      </p:sp>
    </p:spTree>
    <p:extLst>
      <p:ext uri="{BB962C8B-B14F-4D97-AF65-F5344CB8AC3E}">
        <p14:creationId xmlns:p14="http://schemas.microsoft.com/office/powerpoint/2010/main" val="236870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Operatoren</a:t>
            </a:r>
            <a:endParaRPr lang="de-AT" dirty="0"/>
          </a:p>
        </p:txBody>
      </p:sp>
      <p:sp>
        <p:nvSpPr>
          <p:cNvPr id="10" name="Inhaltsplatzhalter 2"/>
          <p:cNvSpPr txBox="1">
            <a:spLocks/>
          </p:cNvSpPr>
          <p:nvPr/>
        </p:nvSpPr>
        <p:spPr>
          <a:xfrm>
            <a:off x="677334" y="1752816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 smtClean="0">
                <a:sym typeface="Wingdings" panose="05000000000000000000" pitchFamily="2" charset="2"/>
              </a:rPr>
              <a:t>Mathematische Operatoren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+   -   *   /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Können für Berechnungen benutzt werden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Der Operator „+“ wird zusätzlich für Verkettungen benutzt</a:t>
            </a:r>
          </a:p>
          <a:p>
            <a:r>
              <a:rPr lang="de-AT" dirty="0" smtClean="0">
                <a:sym typeface="Wingdings" panose="05000000000000000000" pitchFamily="2" charset="2"/>
              </a:rPr>
              <a:t>Logische Operatoren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&lt;   &gt;   &gt;=   &lt;=   ==   !=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| ^ &amp;(OR, XOR, AND)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!  (NICHT)</a:t>
            </a:r>
          </a:p>
          <a:p>
            <a:r>
              <a:rPr lang="de-AT" dirty="0" smtClean="0">
                <a:sym typeface="Wingdings" panose="05000000000000000000" pitchFamily="2" charset="2"/>
              </a:rPr>
              <a:t>Sprachliche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=</a:t>
            </a:r>
          </a:p>
          <a:p>
            <a:pPr lvl="1"/>
            <a:r>
              <a:rPr lang="de-AT" dirty="0" smtClean="0">
                <a:sym typeface="Wingdings" panose="05000000000000000000" pitchFamily="2" charset="2"/>
              </a:rPr>
              <a:t>Zuweisung eines Wertes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2111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Bedingte Anweisung (</a:t>
            </a:r>
            <a:r>
              <a:rPr lang="de-AT" dirty="0" err="1" smtClean="0"/>
              <a:t>Entweder-Oder</a:t>
            </a:r>
            <a:r>
              <a:rPr lang="de-AT" dirty="0" smtClean="0"/>
              <a:t>)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3398" y="3481409"/>
            <a:ext cx="662139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kumimoji="0" lang="de-DE" altLang="de-DE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ool</a:t>
            </a: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i="0" u="none" strike="noStrike" cap="none" normalizeH="0" baseline="0" dirty="0" err="1" smtClean="0">
                <a:ln>
                  <a:noFill/>
                </a:ln>
                <a:effectLst/>
                <a:latin typeface="Lucida Console" panose="020B0609040504020204" pitchFamily="49" charset="0"/>
              </a:rPr>
              <a:t>condition</a:t>
            </a: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> = true;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de-DE" altLang="de-DE" dirty="0" smtClean="0">
                <a:latin typeface="Lucida Console" panose="020B0609040504020204" pitchFamily="49" charset="0"/>
              </a:rPr>
              <a:t> (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condition</a:t>
            </a:r>
            <a:r>
              <a:rPr lang="de-DE" altLang="de-DE" dirty="0" smtClean="0">
                <a:latin typeface="Lucida Console" panose="020B0609040504020204" pitchFamily="49" charset="0"/>
              </a:rPr>
              <a:t>)</a:t>
            </a:r>
            <a:endParaRPr kumimoji="0" lang="de-DE" altLang="de-DE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>
                <a:latin typeface="Lucida Console" panose="020B0609040504020204" pitchFamily="49" charset="0"/>
              </a:rPr>
              <a:t>	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true</a:t>
            </a:r>
            <a:r>
              <a:rPr lang="de-DE" altLang="de-DE" dirty="0" smtClean="0">
                <a:latin typeface="Lucida Console" panose="020B0609040504020204" pitchFamily="49" charset="0"/>
              </a:rPr>
              <a:t>“);</a:t>
            </a:r>
            <a:endParaRPr kumimoji="0" lang="de-DE" altLang="de-DE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else</a:t>
            </a:r>
            <a:endParaRPr kumimoji="0" lang="de-DE" altLang="de-DE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>
                <a:latin typeface="Lucida Console" panose="020B0609040504020204" pitchFamily="49" charset="0"/>
              </a:rPr>
              <a:t>	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false</a:t>
            </a:r>
            <a:r>
              <a:rPr lang="de-DE" altLang="de-DE" dirty="0" smtClean="0">
                <a:latin typeface="Lucida Console" panose="020B0609040504020204" pitchFamily="49" charset="0"/>
              </a:rPr>
              <a:t>“);</a:t>
            </a:r>
            <a:endParaRPr kumimoji="0" lang="de-DE" altLang="de-DE" i="0" u="none" strike="noStrike" cap="none" normalizeH="0" baseline="0" dirty="0" smtClean="0">
              <a:ln>
                <a:noFill/>
              </a:ln>
              <a:effectLst/>
              <a:latin typeface="Lucida Console" panose="020B0609040504020204" pitchFamily="49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4044093" y="3101317"/>
            <a:ext cx="3394677" cy="594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>
            <a:off x="5575301" y="4766274"/>
            <a:ext cx="13081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7555804" y="2845129"/>
            <a:ext cx="3145147" cy="60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Bedingung</a:t>
            </a: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6883400" y="4609521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Oder-Anweisung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IF-ELSE </a:t>
            </a:r>
          </a:p>
          <a:p>
            <a:r>
              <a:rPr lang="de-AT" dirty="0" smtClean="0"/>
              <a:t>Logische Operatoren können in Bedingung verwendet werden</a:t>
            </a:r>
            <a:endParaRPr lang="de-AT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5667199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 flipH="1">
            <a:off x="5575301" y="3878017"/>
            <a:ext cx="1308100" cy="248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6995162" y="3695990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Wenn-Anweisung</a:t>
            </a:r>
          </a:p>
        </p:txBody>
      </p:sp>
    </p:spTree>
    <p:extLst>
      <p:ext uri="{BB962C8B-B14F-4D97-AF65-F5344CB8AC3E}">
        <p14:creationId xmlns:p14="http://schemas.microsoft.com/office/powerpoint/2010/main" val="378514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Bedingte Anweisung (</a:t>
            </a:r>
            <a:r>
              <a:rPr lang="de-AT" dirty="0" err="1" smtClean="0"/>
              <a:t>Entweder-Oder</a:t>
            </a:r>
            <a:r>
              <a:rPr lang="de-AT" dirty="0" smtClean="0"/>
              <a:t>)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77334" y="3095884"/>
            <a:ext cx="8072546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const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EINKOMMEN = 10000;</a:t>
            </a:r>
            <a:endParaRPr kumimoji="0" lang="de-DE" altLang="de-DE" i="0" u="none" strike="noStrike" cap="none" normalizeH="0" baseline="0" dirty="0" smtClean="0">
              <a:ln>
                <a:noFill/>
              </a:ln>
              <a:effectLst/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>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(EINKOMMEN </a:t>
            </a:r>
            <a:r>
              <a:rPr lang="de-DE" altLang="de-DE" dirty="0">
                <a:latin typeface="Lucida Console" panose="020B0609040504020204" pitchFamily="49" charset="0"/>
              </a:rPr>
              <a:t>&lt; </a:t>
            </a:r>
            <a:r>
              <a:rPr lang="de-DE" altLang="de-DE" dirty="0" smtClean="0">
                <a:latin typeface="Lucida Console" panose="020B0609040504020204" pitchFamily="49" charset="0"/>
              </a:rPr>
              <a:t>10000)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smtClean="0">
                <a:latin typeface="Lucida Console" panose="020B0609040504020204" pitchFamily="49" charset="0"/>
              </a:rPr>
              <a:t>	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(“Sie verdienen wenig“);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smtClean="0">
                <a:latin typeface="Lucida Console" panose="020B0609040504020204" pitchFamily="49" charset="0"/>
              </a:rPr>
              <a:t>	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(“Viel zu wenig!“);</a:t>
            </a:r>
            <a:br>
              <a:rPr lang="de-DE" altLang="de-DE" dirty="0" smtClean="0"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Gerade Verbindung mit Pfeil 6"/>
          <p:cNvCxnSpPr>
            <a:stCxn id="11" idx="1"/>
          </p:cNvCxnSpPr>
          <p:nvPr/>
        </p:nvCxnSpPr>
        <p:spPr>
          <a:xfrm flipH="1">
            <a:off x="1094154" y="3840498"/>
            <a:ext cx="6252146" cy="300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 flipV="1">
            <a:off x="1250462" y="5015405"/>
            <a:ext cx="5982363" cy="214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7346300" y="3539744"/>
            <a:ext cx="3145147" cy="6015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Beginn des IF-</a:t>
            </a:r>
            <a:r>
              <a:rPr lang="de-AT" i="1" dirty="0" err="1" smtClean="0"/>
              <a:t>Anweisungblocks</a:t>
            </a:r>
            <a:endParaRPr lang="de-AT" i="1" dirty="0" smtClean="0"/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7354789" y="5019348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Ende des IF-Anweisungsblocks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Achtung bei mehreren Anweisungen in den IF/ELSE-Bereichen!</a:t>
            </a:r>
          </a:p>
          <a:p>
            <a:r>
              <a:rPr lang="de-AT" dirty="0" smtClean="0"/>
              <a:t>Muss von </a:t>
            </a:r>
            <a:r>
              <a:rPr lang="de-AT" dirty="0" err="1" smtClean="0"/>
              <a:t>begin</a:t>
            </a:r>
            <a:r>
              <a:rPr lang="de-AT" dirty="0" smtClean="0"/>
              <a:t>/end Schlüsselzeichen umgeben werden</a:t>
            </a:r>
            <a:endParaRPr lang="de-AT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>
            <a:stCxn id="15" idx="1"/>
          </p:cNvCxnSpPr>
          <p:nvPr/>
        </p:nvCxnSpPr>
        <p:spPr>
          <a:xfrm flipH="1" flipV="1">
            <a:off x="7463692" y="4557822"/>
            <a:ext cx="1171472" cy="163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8635164" y="4426274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(Mehrere) Anweisungen</a:t>
            </a:r>
          </a:p>
        </p:txBody>
      </p:sp>
    </p:spTree>
    <p:extLst>
      <p:ext uri="{BB962C8B-B14F-4D97-AF65-F5344CB8AC3E}">
        <p14:creationId xmlns:p14="http://schemas.microsoft.com/office/powerpoint/2010/main" val="1288339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Schleifen</a:t>
            </a:r>
            <a:endParaRPr lang="de-AT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3721226"/>
          </a:xfrm>
        </p:spPr>
        <p:txBody>
          <a:bodyPr>
            <a:normAutofit/>
          </a:bodyPr>
          <a:lstStyle/>
          <a:p>
            <a:r>
              <a:rPr lang="de-AT" dirty="0" smtClean="0"/>
              <a:t>Zum Wiederholen von Programmteilen</a:t>
            </a:r>
          </a:p>
          <a:p>
            <a:endParaRPr lang="de-AT" dirty="0" smtClean="0"/>
          </a:p>
          <a:p>
            <a:r>
              <a:rPr lang="de-AT" dirty="0" smtClean="0"/>
              <a:t>Es gibt mehrere Typen:</a:t>
            </a:r>
          </a:p>
          <a:p>
            <a:pPr lvl="1"/>
            <a:r>
              <a:rPr lang="de-AT" dirty="0" err="1" smtClean="0"/>
              <a:t>While</a:t>
            </a:r>
            <a:endParaRPr lang="de-AT" dirty="0" smtClean="0"/>
          </a:p>
          <a:p>
            <a:pPr lvl="1"/>
            <a:r>
              <a:rPr lang="de-AT" dirty="0" smtClean="0"/>
              <a:t>Do-</a:t>
            </a:r>
            <a:r>
              <a:rPr lang="de-AT" dirty="0" err="1" smtClean="0"/>
              <a:t>While</a:t>
            </a:r>
            <a:endParaRPr lang="de-AT" dirty="0" smtClean="0"/>
          </a:p>
          <a:p>
            <a:pPr lvl="1"/>
            <a:r>
              <a:rPr lang="de-AT" dirty="0" err="1" smtClean="0"/>
              <a:t>For</a:t>
            </a:r>
            <a:r>
              <a:rPr lang="de-AT" dirty="0" smtClean="0"/>
              <a:t> (Zählschleife)</a:t>
            </a:r>
          </a:p>
          <a:p>
            <a:pPr lvl="1"/>
            <a:r>
              <a:rPr lang="de-AT" dirty="0" smtClean="0"/>
              <a:t>(</a:t>
            </a:r>
            <a:r>
              <a:rPr lang="de-AT" dirty="0" err="1" smtClean="0"/>
              <a:t>For-Each</a:t>
            </a:r>
            <a:r>
              <a:rPr lang="de-AT" dirty="0" smtClean="0"/>
              <a:t>)</a:t>
            </a:r>
          </a:p>
          <a:p>
            <a:pPr marL="457200" lvl="1" indent="0">
              <a:buNone/>
            </a:pPr>
            <a:endParaRPr lang="de-AT" dirty="0" smtClean="0"/>
          </a:p>
          <a:p>
            <a:pPr marL="457200" lvl="1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3233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While</a:t>
            </a:r>
            <a:r>
              <a:rPr lang="de-AT" dirty="0" smtClean="0"/>
              <a:t>-Schleife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27837" y="3234383"/>
            <a:ext cx="8781886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Zahl </a:t>
            </a:r>
            <a:r>
              <a:rPr lang="de-DE" altLang="de-DE" dirty="0">
                <a:latin typeface="Lucida Console" panose="020B0609040504020204" pitchFamily="49" charset="0"/>
              </a:rPr>
              <a:t>=</a:t>
            </a:r>
            <a:r>
              <a:rPr lang="de-DE" altLang="de-DE" dirty="0" smtClean="0">
                <a:latin typeface="Lucida Console" panose="020B0609040504020204" pitchFamily="49" charset="0"/>
              </a:rPr>
              <a:t> 10</a:t>
            </a:r>
            <a:r>
              <a:rPr lang="de-DE" altLang="de-DE" dirty="0">
                <a:latin typeface="Lucida Console" panose="020B0609040504020204" pitchFamily="49" charset="0"/>
              </a:rPr>
              <a:t>; </a:t>
            </a: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/>
            </a:r>
            <a:b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</a:b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while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(</a:t>
            </a:r>
            <a:r>
              <a:rPr lang="de-DE" altLang="de-DE" dirty="0" smtClean="0">
                <a:latin typeface="Lucida Console" panose="020B0609040504020204" pitchFamily="49" charset="0"/>
              </a:rPr>
              <a:t>Zahl</a:t>
            </a:r>
            <a:r>
              <a:rPr lang="de-DE" altLang="de-DE" dirty="0">
                <a:latin typeface="Lucida Console" panose="020B0609040504020204" pitchFamily="49" charset="0"/>
              </a:rPr>
              <a:t>&lt; 10000</a:t>
            </a:r>
            <a:r>
              <a:rPr lang="de-DE" altLang="de-DE" dirty="0" smtClean="0">
                <a:latin typeface="Lucida Console" panose="020B0609040504020204" pitchFamily="49" charset="0"/>
              </a:rPr>
              <a:t>) </a:t>
            </a:r>
            <a:endParaRPr lang="de-DE" altLang="de-DE" dirty="0">
              <a:latin typeface="Lucida Console" panose="020B0609040504020204" pitchFamily="49" charset="0"/>
            </a:endParaRPr>
          </a:p>
          <a:p>
            <a:pPr marR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 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(“Die Zahl ist </a:t>
            </a:r>
            <a:r>
              <a:rPr lang="de-DE" altLang="de-DE" dirty="0" smtClean="0">
                <a:latin typeface="Lucida Console" panose="020B0609040504020204" pitchFamily="49" charset="0"/>
              </a:rPr>
              <a:t>“ +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Convert.ToStr</a:t>
            </a:r>
            <a:r>
              <a:rPr lang="de-DE" altLang="de-DE" dirty="0" smtClean="0">
                <a:latin typeface="Lucida Console" panose="020B0609040504020204" pitchFamily="49" charset="0"/>
              </a:rPr>
              <a:t>(Zahl</a:t>
            </a:r>
            <a:r>
              <a:rPr lang="de-DE" altLang="de-DE" dirty="0">
                <a:latin typeface="Lucida Console" panose="020B0609040504020204" pitchFamily="49" charset="0"/>
              </a:rPr>
              <a:t>)</a:t>
            </a:r>
            <a:r>
              <a:rPr lang="de-DE" altLang="de-DE" dirty="0" smtClean="0">
                <a:latin typeface="Lucida Console" panose="020B0609040504020204" pitchFamily="49" charset="0"/>
              </a:rPr>
              <a:t>);</a:t>
            </a:r>
            <a:endParaRPr lang="de-DE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  Zahl++; //Zahl:=Zahl + 1</a:t>
            </a:r>
            <a:br>
              <a:rPr lang="de-DE" altLang="de-DE" dirty="0" smtClean="0"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7" name="Gerade Verbindung mit Pfeil 6"/>
          <p:cNvCxnSpPr/>
          <p:nvPr/>
        </p:nvCxnSpPr>
        <p:spPr>
          <a:xfrm flipH="1">
            <a:off x="2579900" y="3153157"/>
            <a:ext cx="4037400" cy="4057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/>
          <p:nvPr/>
        </p:nvCxnSpPr>
        <p:spPr>
          <a:xfrm flipH="1" flipV="1">
            <a:off x="1602154" y="4853354"/>
            <a:ext cx="5630670" cy="376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nhaltsplatzhalter 2"/>
          <p:cNvSpPr txBox="1">
            <a:spLocks/>
          </p:cNvSpPr>
          <p:nvPr/>
        </p:nvSpPr>
        <p:spPr>
          <a:xfrm>
            <a:off x="6491189" y="2957385"/>
            <a:ext cx="3145147" cy="601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Schleifenkopf</a:t>
            </a:r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7354789" y="5019348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Bei nur einer Anweisung</a:t>
            </a:r>
          </a:p>
          <a:p>
            <a:pPr marL="0" indent="0">
              <a:buFont typeface="Wingdings 3" charset="2"/>
              <a:buNone/>
            </a:pPr>
            <a:r>
              <a:rPr lang="de-AT" i="1" dirty="0" smtClean="0"/>
              <a:t>Ohne </a:t>
            </a:r>
            <a:r>
              <a:rPr lang="de-AT" i="1" dirty="0" smtClean="0"/>
              <a:t>Klammern </a:t>
            </a:r>
            <a:r>
              <a:rPr lang="de-AT" i="1" dirty="0" smtClean="0"/>
              <a:t>möglich</a:t>
            </a:r>
            <a:endParaRPr lang="de-AT" i="1" dirty="0" smtClean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Kopfgesteuerte Schleife</a:t>
            </a:r>
            <a:endParaRPr lang="de-AT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 flipH="1">
            <a:off x="6555957" y="3876153"/>
            <a:ext cx="1597664" cy="2264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8063762" y="3694792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Rumpf</a:t>
            </a:r>
          </a:p>
        </p:txBody>
      </p:sp>
    </p:spTree>
    <p:extLst>
      <p:ext uri="{BB962C8B-B14F-4D97-AF65-F5344CB8AC3E}">
        <p14:creationId xmlns:p14="http://schemas.microsoft.com/office/powerpoint/2010/main" val="204040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Do-</a:t>
            </a:r>
            <a:r>
              <a:rPr lang="de-AT" dirty="0" err="1" smtClean="0"/>
              <a:t>While</a:t>
            </a:r>
            <a:r>
              <a:rPr lang="de-AT" dirty="0" smtClean="0"/>
              <a:t>-Schleife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3397" y="2988163"/>
            <a:ext cx="870758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/>
            </a:r>
            <a:b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</a:b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	</a:t>
            </a: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Zahl = 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10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;</a:t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     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do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{</a:t>
            </a:r>
            <a:b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AT" dirty="0" smtClean="0"/>
              <a:t>    </a:t>
            </a:r>
            <a:r>
              <a:rPr lang="de-AT" dirty="0" err="1" smtClean="0">
                <a:latin typeface="Lucida Console" panose="020B0609040504020204" pitchFamily="49" charset="0"/>
              </a:rPr>
              <a:t>Console.WriteLine</a:t>
            </a:r>
            <a:r>
              <a:rPr lang="de-AT" dirty="0">
                <a:latin typeface="Lucida Console" panose="020B0609040504020204" pitchFamily="49" charset="0"/>
              </a:rPr>
              <a:t>(“</a:t>
            </a:r>
            <a:r>
              <a:rPr lang="de-AT" dirty="0"/>
              <a:t>Die</a:t>
            </a:r>
            <a:r>
              <a:rPr lang="de-AT" dirty="0">
                <a:latin typeface="Lucida Console" panose="020B0609040504020204" pitchFamily="49" charset="0"/>
              </a:rPr>
              <a:t> </a:t>
            </a:r>
            <a:r>
              <a:rPr lang="de-AT" dirty="0" smtClean="0"/>
              <a:t>Zahl </a:t>
            </a:r>
            <a:r>
              <a:rPr lang="de-AT" dirty="0"/>
              <a:t>ist</a:t>
            </a:r>
            <a:r>
              <a:rPr lang="de-AT" dirty="0" smtClean="0"/>
              <a:t> </a:t>
            </a:r>
            <a:r>
              <a:rPr lang="de-AT" dirty="0" smtClean="0">
                <a:latin typeface="Lucida Console" panose="020B0609040504020204" pitchFamily="49" charset="0"/>
              </a:rPr>
              <a:t>“ + </a:t>
            </a:r>
            <a:r>
              <a:rPr lang="de-AT" dirty="0" err="1" smtClean="0">
                <a:latin typeface="Lucida Console" panose="020B0609040504020204" pitchFamily="49" charset="0"/>
              </a:rPr>
              <a:t>Convert.ToStr</a:t>
            </a:r>
            <a:r>
              <a:rPr lang="de-AT" dirty="0" smtClean="0">
                <a:latin typeface="Lucida Console" panose="020B0609040504020204" pitchFamily="49" charset="0"/>
              </a:rPr>
              <a:t>(</a:t>
            </a:r>
            <a:r>
              <a:rPr lang="de-AT" dirty="0" smtClean="0"/>
              <a:t>Zahl</a:t>
            </a:r>
            <a:r>
              <a:rPr lang="de-AT" dirty="0">
                <a:latin typeface="Lucida Console" panose="020B0609040504020204" pitchFamily="49" charset="0"/>
              </a:rPr>
              <a:t>));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AT" dirty="0" smtClean="0"/>
              <a:t>	</a:t>
            </a:r>
            <a:r>
              <a:rPr lang="de-AT" dirty="0"/>
              <a:t>  </a:t>
            </a:r>
            <a:r>
              <a:rPr lang="de-AT" dirty="0" smtClean="0"/>
              <a:t>  Zahl</a:t>
            </a:r>
            <a:r>
              <a:rPr lang="de-AT" dirty="0">
                <a:latin typeface="Lucida Console" panose="020B0609040504020204" pitchFamily="49" charset="0"/>
              </a:rPr>
              <a:t>++; </a:t>
            </a:r>
            <a:r>
              <a:rPr lang="de-DE" altLang="de-DE" dirty="0" smtClean="0">
                <a:latin typeface="Lucida Console" panose="020B0609040504020204" pitchFamily="49" charset="0"/>
              </a:rPr>
              <a:t>	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    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while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smtClean="0">
                <a:latin typeface="Lucida Console" panose="020B0609040504020204" pitchFamily="49" charset="0"/>
              </a:rPr>
              <a:t>(</a:t>
            </a:r>
            <a:r>
              <a:rPr lang="de-DE" altLang="de-DE" dirty="0" smtClean="0">
                <a:latin typeface="Lucida Console" panose="020B0609040504020204" pitchFamily="49" charset="0"/>
              </a:rPr>
              <a:t>Zahl </a:t>
            </a:r>
            <a:r>
              <a:rPr lang="de-DE" altLang="de-DE" b="1" dirty="0">
                <a:latin typeface="Lucida Console" panose="020B0609040504020204" pitchFamily="49" charset="0"/>
              </a:rPr>
              <a:t>&gt;</a:t>
            </a:r>
            <a:r>
              <a:rPr lang="de-DE" altLang="de-DE" dirty="0" smtClean="0">
                <a:latin typeface="Lucida Console" panose="020B0609040504020204" pitchFamily="49" charset="0"/>
              </a:rPr>
              <a:t> 10000</a:t>
            </a:r>
            <a:r>
              <a:rPr lang="de-DE" altLang="de-DE" b="1" dirty="0">
                <a:latin typeface="Lucida Console" panose="020B060904050402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 flipV="1">
            <a:off x="4791218" y="5124558"/>
            <a:ext cx="2441607" cy="105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7354789" y="5019348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Bedingung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Fußgesteuerte Schleife</a:t>
            </a:r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 flipH="1">
            <a:off x="4267200" y="3548529"/>
            <a:ext cx="3915861" cy="502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8163562" y="3414357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Rumpf</a:t>
            </a:r>
          </a:p>
        </p:txBody>
      </p:sp>
    </p:spTree>
    <p:extLst>
      <p:ext uri="{BB962C8B-B14F-4D97-AF65-F5344CB8AC3E}">
        <p14:creationId xmlns:p14="http://schemas.microsoft.com/office/powerpoint/2010/main" val="57024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For</a:t>
            </a:r>
            <a:r>
              <a:rPr lang="de-AT" dirty="0" smtClean="0"/>
              <a:t>-Schleife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42901" y="3649881"/>
            <a:ext cx="991088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or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(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Zaehler</a:t>
            </a:r>
            <a:r>
              <a:rPr lang="de-DE" altLang="de-DE" dirty="0" smtClean="0">
                <a:latin typeface="Lucida Console" panose="020B0609040504020204" pitchFamily="49" charset="0"/>
              </a:rPr>
              <a:t> = 0</a:t>
            </a:r>
            <a:r>
              <a:rPr lang="de-DE" altLang="de-DE" dirty="0">
                <a:latin typeface="Lucida Console" panose="020B0609040504020204" pitchFamily="49" charset="0"/>
              </a:rPr>
              <a:t>;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Zaehler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&lt; </a:t>
            </a:r>
            <a:r>
              <a:rPr lang="de-DE" altLang="de-DE" dirty="0" smtClean="0">
                <a:latin typeface="Lucida Console" panose="020B0609040504020204" pitchFamily="49" charset="0"/>
              </a:rPr>
              <a:t>10</a:t>
            </a:r>
            <a:r>
              <a:rPr lang="de-DE" altLang="de-DE" dirty="0">
                <a:latin typeface="Lucida Console" panose="020B0609040504020204" pitchFamily="49" charset="0"/>
              </a:rPr>
              <a:t>;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Zaehler</a:t>
            </a:r>
            <a:r>
              <a:rPr lang="de-DE" altLang="de-DE" dirty="0">
                <a:latin typeface="Lucida Console" panose="020B0609040504020204" pitchFamily="49" charset="0"/>
              </a:rPr>
              <a:t>++)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dirty="0">
                <a:latin typeface="Lucida Console" panose="020B0609040504020204" pitchFamily="49" charset="0"/>
              </a:rPr>
              <a:t> 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Console.WriteLn</a:t>
            </a:r>
            <a:r>
              <a:rPr lang="de-DE" altLang="de-DE" dirty="0">
                <a:latin typeface="Lucida Console" panose="020B0609040504020204" pitchFamily="49" charset="0"/>
              </a:rPr>
              <a:t>(“Die Zahl ist </a:t>
            </a:r>
            <a:r>
              <a:rPr lang="de-DE" altLang="de-DE" dirty="0" smtClean="0">
                <a:latin typeface="Lucida Console" panose="020B0609040504020204" pitchFamily="49" charset="0"/>
              </a:rPr>
              <a:t>“ +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Convert.ToStr</a:t>
            </a:r>
            <a:r>
              <a:rPr lang="de-DE" altLang="de-DE" dirty="0" smtClean="0">
                <a:latin typeface="Lucida Console" panose="020B0609040504020204" pitchFamily="49" charset="0"/>
              </a:rPr>
              <a:t>(Zahl</a:t>
            </a:r>
            <a:r>
              <a:rPr lang="de-DE" altLang="de-DE" dirty="0">
                <a:latin typeface="Lucida Console" panose="020B0609040504020204" pitchFamily="49" charset="0"/>
              </a:rPr>
              <a:t>));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>
            <a:off x="6477000" y="2955366"/>
            <a:ext cx="547589" cy="6006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7024589" y="2660801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Zähler wird bei jedem Durchlauf um 1 erhöht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Zählschleife</a:t>
            </a:r>
          </a:p>
          <a:p>
            <a:r>
              <a:rPr lang="de-AT" dirty="0" smtClean="0"/>
              <a:t>Lokale Variable wird als Zähler benutzt</a:t>
            </a:r>
            <a:endParaRPr lang="de-AT" dirty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>
            <a:off x="3311940" y="3108400"/>
            <a:ext cx="1120360" cy="447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2283462" y="2645253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Von 0…10</a:t>
            </a:r>
          </a:p>
        </p:txBody>
      </p:sp>
    </p:spTree>
    <p:extLst>
      <p:ext uri="{BB962C8B-B14F-4D97-AF65-F5344CB8AC3E}">
        <p14:creationId xmlns:p14="http://schemas.microsoft.com/office/powerpoint/2010/main" val="226212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 smtClean="0"/>
              <a:t>For</a:t>
            </a:r>
            <a:r>
              <a:rPr lang="de-AT" dirty="0" smtClean="0"/>
              <a:t>-</a:t>
            </a:r>
            <a:r>
              <a:rPr lang="de-AT" dirty="0" err="1" smtClean="0"/>
              <a:t>Each</a:t>
            </a:r>
            <a:r>
              <a:rPr lang="de-AT" dirty="0" smtClean="0"/>
              <a:t>-Schleife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3398" y="3542161"/>
            <a:ext cx="844870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Char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Buchstabe; </a:t>
            </a:r>
            <a:endParaRPr lang="de-DE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Wort=“Test</a:t>
            </a:r>
            <a:r>
              <a:rPr lang="de-DE" altLang="de-DE" dirty="0" smtClean="0">
                <a:latin typeface="Lucida Console" panose="020B0609040504020204" pitchFamily="49" charset="0"/>
              </a:rPr>
              <a:t>“;</a:t>
            </a:r>
            <a:r>
              <a:rPr lang="de-DE" altLang="de-DE" dirty="0">
                <a:latin typeface="Lucida Console" panose="020B0609040504020204" pitchFamily="49" charset="0"/>
              </a:rPr>
              <a:t/>
            </a:r>
            <a:br>
              <a:rPr lang="de-DE" altLang="de-DE" dirty="0">
                <a:latin typeface="Lucida Console" panose="020B0609040504020204" pitchFamily="49" charset="0"/>
              </a:rPr>
            </a:b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foreach</a:t>
            </a:r>
            <a:r>
              <a:rPr lang="de-DE" altLang="de-DE" dirty="0" smtClean="0">
                <a:latin typeface="Lucida Console" panose="020B0609040504020204" pitchFamily="49" charset="0"/>
              </a:rPr>
              <a:t>(Buchstabe 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in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Wort)</a:t>
            </a:r>
            <a:br>
              <a:rPr lang="de-DE" altLang="de-DE" dirty="0"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	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(“</a:t>
            </a:r>
            <a:r>
              <a:rPr lang="de-DE" altLang="de-DE" dirty="0">
                <a:latin typeface="Lucida Console" panose="020B0609040504020204" pitchFamily="49" charset="0"/>
              </a:rPr>
              <a:t>Der Buchstabe</a:t>
            </a:r>
            <a:r>
              <a:rPr lang="de-DE" altLang="de-DE" dirty="0" smtClean="0">
                <a:latin typeface="Lucida Console" panose="020B0609040504020204" pitchFamily="49" charset="0"/>
              </a:rPr>
              <a:t>“ + </a:t>
            </a:r>
            <a:r>
              <a:rPr lang="de-DE" altLang="de-DE" dirty="0">
                <a:latin typeface="Lucida Console" panose="020B0609040504020204" pitchFamily="49" charset="0"/>
              </a:rPr>
              <a:t>Buchstabe);</a:t>
            </a:r>
            <a:br>
              <a:rPr lang="de-DE" altLang="de-DE" dirty="0"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/>
            </a:r>
            <a:br>
              <a:rPr lang="de-DE" altLang="de-DE" dirty="0">
                <a:latin typeface="Lucida Console" panose="020B0609040504020204" pitchFamily="49" charset="0"/>
              </a:rPr>
            </a:br>
            <a:endParaRPr lang="de-DE" altLang="de-DE" dirty="0">
              <a:latin typeface="Lucida Console" panose="020B0609040504020204" pitchFamily="49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 flipV="1">
            <a:off x="6653643" y="5254964"/>
            <a:ext cx="356758" cy="289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7010400" y="5348322"/>
            <a:ext cx="3163330" cy="6784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Gibt die vier Buchstaben</a:t>
            </a:r>
          </a:p>
          <a:p>
            <a:pPr marL="0" indent="0">
              <a:buFont typeface="Wingdings 3" charset="2"/>
              <a:buNone/>
            </a:pPr>
            <a:r>
              <a:rPr lang="de-AT" i="1" dirty="0"/>
              <a:t>e</a:t>
            </a:r>
            <a:r>
              <a:rPr lang="de-AT" i="1" dirty="0" smtClean="0"/>
              <a:t>inzeln aus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Ähnlich der </a:t>
            </a:r>
            <a:r>
              <a:rPr lang="de-AT" dirty="0" err="1" smtClean="0"/>
              <a:t>For</a:t>
            </a:r>
            <a:r>
              <a:rPr lang="de-AT" dirty="0" smtClean="0"/>
              <a:t>-Schleife</a:t>
            </a:r>
          </a:p>
          <a:p>
            <a:r>
              <a:rPr lang="de-AT" dirty="0" smtClean="0"/>
              <a:t>Iterieren (durchlaufen) einer Menge von Daten</a:t>
            </a:r>
            <a:endParaRPr lang="de-AT" dirty="0" smtClean="0"/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  <p:cxnSp>
        <p:nvCxnSpPr>
          <p:cNvPr id="14" name="Gerade Verbindung mit Pfeil 13"/>
          <p:cNvCxnSpPr/>
          <p:nvPr/>
        </p:nvCxnSpPr>
        <p:spPr>
          <a:xfrm flipH="1">
            <a:off x="4673600" y="3453541"/>
            <a:ext cx="2078593" cy="5244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nhaltsplatzhalter 2"/>
          <p:cNvSpPr txBox="1">
            <a:spLocks/>
          </p:cNvSpPr>
          <p:nvPr/>
        </p:nvSpPr>
        <p:spPr>
          <a:xfrm>
            <a:off x="6653643" y="3158976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Schleifenkopf</a:t>
            </a:r>
          </a:p>
        </p:txBody>
      </p:sp>
    </p:spTree>
    <p:extLst>
      <p:ext uri="{BB962C8B-B14F-4D97-AF65-F5344CB8AC3E}">
        <p14:creationId xmlns:p14="http://schemas.microsoft.com/office/powerpoint/2010/main" val="484017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Schleifen unterbrechen</a:t>
            </a:r>
            <a:endParaRPr lang="de-AT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33398" y="3234386"/>
            <a:ext cx="6621391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or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nn-NO" dirty="0">
                <a:latin typeface="Lucida Console" panose="020B0609040504020204" pitchFamily="49" charset="0"/>
              </a:rPr>
              <a:t>(int Zaehler = 1; i &lt;= 100; i++)</a:t>
            </a:r>
            <a:r>
              <a:rPr lang="de-DE" altLang="de-DE" dirty="0">
                <a:latin typeface="Lucida Console" panose="020B0609040504020204" pitchFamily="49" charset="0"/>
              </a:rPr>
              <a:t/>
            </a:r>
            <a:br>
              <a:rPr lang="de-DE" altLang="de-DE" dirty="0"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endParaRPr lang="de-DE" altLang="de-DE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</a:t>
            </a:r>
            <a:r>
              <a:rPr lang="de-DE" altLang="de-D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f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(</a:t>
            </a:r>
            <a:r>
              <a:rPr lang="de-DE" altLang="de-DE" dirty="0" err="1">
                <a:latin typeface="Lucida Console" panose="020B0609040504020204" pitchFamily="49" charset="0"/>
              </a:rPr>
              <a:t>Zaehler</a:t>
            </a:r>
            <a:r>
              <a:rPr lang="de-DE" altLang="de-DE" dirty="0">
                <a:latin typeface="Lucida Console" panose="020B0609040504020204" pitchFamily="49" charset="0"/>
              </a:rPr>
              <a:t> == 5)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endParaRPr lang="de-DE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  </a:t>
            </a: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b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reak</a:t>
            </a:r>
            <a:r>
              <a:rPr lang="de-DE" altLang="de-DE" dirty="0">
                <a:latin typeface="Lucida Console" panose="020B060904050402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  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de-DE" altLang="de-DE" dirty="0" smtClean="0">
                <a:latin typeface="Lucida Console" panose="020B0609040504020204" pitchFamily="49" charset="0"/>
              </a:rPr>
              <a:t> </a:t>
            </a:r>
            <a:r>
              <a:rPr kumimoji="0" lang="de-DE" altLang="de-DE" sz="1400" i="0" u="none" strike="noStrike" cap="none" normalizeH="0" baseline="0" dirty="0" smtClean="0">
                <a:ln>
                  <a:noFill/>
                </a:ln>
                <a:effectLst/>
              </a:rPr>
              <a:t/>
            </a:r>
            <a:br>
              <a:rPr kumimoji="0" lang="de-DE" altLang="de-DE" sz="1400" i="0" u="none" strike="noStrike" cap="none" normalizeH="0" baseline="0" dirty="0" smtClean="0">
                <a:ln>
                  <a:noFill/>
                </a:ln>
                <a:effectLst/>
              </a:rPr>
            </a:br>
            <a:endParaRPr kumimoji="0" lang="de-DE" altLang="de-DE" sz="400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9" name="Gerade Verbindung mit Pfeil 8"/>
          <p:cNvCxnSpPr/>
          <p:nvPr/>
        </p:nvCxnSpPr>
        <p:spPr>
          <a:xfrm flipH="1" flipV="1">
            <a:off x="3425371" y="4731240"/>
            <a:ext cx="2873419" cy="3997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nhaltsplatzhalter 2"/>
          <p:cNvSpPr txBox="1">
            <a:spLocks/>
          </p:cNvSpPr>
          <p:nvPr/>
        </p:nvSpPr>
        <p:spPr>
          <a:xfrm>
            <a:off x="6483810" y="4731240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Beim </a:t>
            </a:r>
            <a:r>
              <a:rPr lang="de-AT" i="1" dirty="0"/>
              <a:t>6</a:t>
            </a:r>
            <a:r>
              <a:rPr lang="de-AT" i="1" dirty="0" smtClean="0"/>
              <a:t>. Durchlauf wird</a:t>
            </a:r>
          </a:p>
          <a:p>
            <a:pPr marL="0" indent="0">
              <a:buFont typeface="Wingdings 3" charset="2"/>
              <a:buNone/>
            </a:pPr>
            <a:r>
              <a:rPr lang="de-AT" i="1" dirty="0" smtClean="0"/>
              <a:t>Schleife beendet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/>
          <a:lstStyle/>
          <a:p>
            <a:r>
              <a:rPr lang="de-AT" dirty="0" smtClean="0"/>
              <a:t>Break-Befehl unterbricht aktuelle Schleife</a:t>
            </a:r>
          </a:p>
        </p:txBody>
      </p:sp>
      <p:sp>
        <p:nvSpPr>
          <p:cNvPr id="13" name="Inhaltsplatzhalter 2"/>
          <p:cNvSpPr txBox="1">
            <a:spLocks/>
          </p:cNvSpPr>
          <p:nvPr/>
        </p:nvSpPr>
        <p:spPr>
          <a:xfrm>
            <a:off x="677334" y="6004952"/>
            <a:ext cx="8227769" cy="41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! Rot gefärbte Wörter/Zeichen sind durch Programmiersprache vorgegeben !</a:t>
            </a:r>
          </a:p>
        </p:txBody>
      </p:sp>
    </p:spTree>
    <p:extLst>
      <p:ext uri="{BB962C8B-B14F-4D97-AF65-F5344CB8AC3E}">
        <p14:creationId xmlns:p14="http://schemas.microsoft.com/office/powerpoint/2010/main" val="144561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 mit Rückgabewert </a:t>
            </a:r>
            <a:endParaRPr lang="de-AT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33397" y="3095251"/>
            <a:ext cx="85557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public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Addition(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Zahl1,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Zahl2)</a:t>
            </a:r>
            <a:br>
              <a:rPr lang="de-DE" altLang="de-DE" dirty="0" smtClean="0">
                <a:latin typeface="Lucida Console" panose="020B0609040504020204" pitchFamily="49" charset="0"/>
              </a:rPr>
            </a:b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zahl1 </a:t>
            </a:r>
            <a:r>
              <a:rPr lang="de-DE" altLang="de-DE" dirty="0" smtClean="0">
                <a:latin typeface="Lucida Console" panose="020B0609040504020204" pitchFamily="49" charset="0"/>
              </a:rPr>
              <a:t>+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zahl2</a:t>
            </a:r>
            <a:r>
              <a:rPr lang="de-DE" altLang="de-DE" dirty="0" smtClean="0">
                <a:latin typeface="Lucida Console" panose="020B060904050402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Gerade Verbindung mit Pfeil 4"/>
          <p:cNvCxnSpPr/>
          <p:nvPr/>
        </p:nvCxnSpPr>
        <p:spPr>
          <a:xfrm flipH="1">
            <a:off x="5757133" y="2213959"/>
            <a:ext cx="1630638" cy="881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nhaltsplatzhalter 2"/>
          <p:cNvSpPr txBox="1">
            <a:spLocks/>
          </p:cNvSpPr>
          <p:nvPr/>
        </p:nvSpPr>
        <p:spPr>
          <a:xfrm>
            <a:off x="7387771" y="1919393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(Methoden)</a:t>
            </a:r>
            <a:r>
              <a:rPr lang="de-AT" i="1" dirty="0" err="1" smtClean="0"/>
              <a:t>parameter</a:t>
            </a:r>
            <a:endParaRPr lang="de-AT" i="1" dirty="0" smtClean="0"/>
          </a:p>
        </p:txBody>
      </p:sp>
      <p:cxnSp>
        <p:nvCxnSpPr>
          <p:cNvPr id="13" name="Gerade Verbindung mit Pfeil 12"/>
          <p:cNvCxnSpPr/>
          <p:nvPr/>
        </p:nvCxnSpPr>
        <p:spPr>
          <a:xfrm flipH="1" flipV="1">
            <a:off x="3149631" y="4013519"/>
            <a:ext cx="3422821" cy="4717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/>
          <p:cNvSpPr txBox="1">
            <a:spLocks/>
          </p:cNvSpPr>
          <p:nvPr/>
        </p:nvSpPr>
        <p:spPr>
          <a:xfrm>
            <a:off x="6572452" y="4249413"/>
            <a:ext cx="3216875" cy="81506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Anweisung zum Beenden der Funktion und Rückgabe</a:t>
            </a:r>
            <a:r>
              <a:rPr lang="de-AT" i="1" dirty="0"/>
              <a:t/>
            </a:r>
            <a:br>
              <a:rPr lang="de-AT" i="1" dirty="0"/>
            </a:br>
            <a:r>
              <a:rPr lang="de-AT" i="1" dirty="0" smtClean="0"/>
              <a:t>eines Wertes</a:t>
            </a:r>
          </a:p>
        </p:txBody>
      </p:sp>
      <p:cxnSp>
        <p:nvCxnSpPr>
          <p:cNvPr id="17" name="Gerade Verbindung mit Pfeil 16"/>
          <p:cNvCxnSpPr/>
          <p:nvPr/>
        </p:nvCxnSpPr>
        <p:spPr>
          <a:xfrm>
            <a:off x="2148114" y="2679754"/>
            <a:ext cx="806101" cy="493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nhaltsplatzhalter 2"/>
          <p:cNvSpPr txBox="1">
            <a:spLocks/>
          </p:cNvSpPr>
          <p:nvPr/>
        </p:nvSpPr>
        <p:spPr>
          <a:xfrm>
            <a:off x="641149" y="2295021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Datentyp der Rückgabe</a:t>
            </a:r>
          </a:p>
        </p:txBody>
      </p:sp>
    </p:spTree>
    <p:extLst>
      <p:ext uri="{BB962C8B-B14F-4D97-AF65-F5344CB8AC3E}">
        <p14:creationId xmlns:p14="http://schemas.microsoft.com/office/powerpoint/2010/main" val="346364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Methoden ohne Rückgabewert 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public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void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Addition()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{ 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  </a:t>
            </a:r>
            <a:r>
              <a:rPr lang="de-DE" altLang="de-DE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(„Ich habe keinen Rückgabewert“);</a:t>
            </a:r>
            <a:endParaRPr lang="de-DE" altLang="de-DE" dirty="0">
              <a:latin typeface="Lucida Console" panose="020B060904050402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endParaRPr lang="de-AT" dirty="0"/>
          </a:p>
        </p:txBody>
      </p:sp>
      <p:sp>
        <p:nvSpPr>
          <p:cNvPr id="4" name="Textfeld 3"/>
          <p:cNvSpPr txBox="1"/>
          <p:nvPr/>
        </p:nvSpPr>
        <p:spPr>
          <a:xfrm>
            <a:off x="741191" y="3720123"/>
            <a:ext cx="9153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//Bei Methoden ohne Rückgabewert muss „</a:t>
            </a:r>
            <a:r>
              <a:rPr lang="de-AT" dirty="0" err="1" smtClean="0"/>
              <a:t>void</a:t>
            </a:r>
            <a:r>
              <a:rPr lang="de-AT" dirty="0" smtClean="0"/>
              <a:t>“ als Rückgabewert festgelegt werden 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80092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Parameter (Methode)</a:t>
            </a:r>
            <a:endParaRPr lang="de-AT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>
            <a:normAutofit/>
          </a:bodyPr>
          <a:lstStyle/>
          <a:p>
            <a:r>
              <a:rPr lang="de-AT" dirty="0" smtClean="0"/>
              <a:t>Übergabe von Variablen und Daten an Methoden</a:t>
            </a:r>
          </a:p>
          <a:p>
            <a:r>
              <a:rPr lang="de-AT" dirty="0" smtClean="0"/>
              <a:t>Können Verhalten der Methoden beeinflussen</a:t>
            </a:r>
            <a:endParaRPr lang="de-AT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89354" y="2586147"/>
            <a:ext cx="6971835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static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Methodenname(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parameter</a:t>
            </a:r>
            <a:r>
              <a:rPr lang="de-DE" altLang="de-DE" dirty="0" smtClean="0">
                <a:latin typeface="Lucida Console" panose="020B0609040504020204" pitchFamily="49" charset="0"/>
              </a:rPr>
              <a:t>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Console.WriteLine</a:t>
            </a:r>
            <a:r>
              <a:rPr lang="de-DE" altLang="de-DE" dirty="0" smtClean="0">
                <a:latin typeface="Lucida Console" panose="020B0609040504020204" pitchFamily="49" charset="0"/>
              </a:rPr>
              <a:t>(„Hallo “ +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parameter</a:t>
            </a:r>
            <a:r>
              <a:rPr lang="de-DE" altLang="de-DE" dirty="0" smtClean="0">
                <a:latin typeface="Lucida Console" panose="020B0609040504020204" pitchFamily="49" charset="0"/>
              </a:rPr>
              <a:t>);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_________________________________________________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parameter</a:t>
            </a:r>
            <a:r>
              <a:rPr lang="de-DE" altLang="de-DE" dirty="0" smtClean="0">
                <a:latin typeface="Lucida Console" panose="020B0609040504020204" pitchFamily="49" charset="0"/>
              </a:rPr>
              <a:t> = „Johannes“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 </a:t>
            </a:r>
            <a:r>
              <a:rPr lang="de-DE" altLang="de-DE" dirty="0" smtClean="0">
                <a:latin typeface="Lucida Console" panose="020B0609040504020204" pitchFamily="49" charset="0"/>
              </a:rPr>
              <a:t>Methodenname(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parameter</a:t>
            </a:r>
            <a:r>
              <a:rPr lang="de-DE" altLang="de-DE" dirty="0" smtClean="0">
                <a:latin typeface="Lucida Console" panose="020B0609040504020204" pitchFamily="49" charset="0"/>
              </a:rPr>
              <a:t>);</a:t>
            </a: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 smtClean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5" name="Gerade Verbindung mit Pfeil 4"/>
          <p:cNvCxnSpPr/>
          <p:nvPr/>
        </p:nvCxnSpPr>
        <p:spPr>
          <a:xfrm flipH="1">
            <a:off x="5853301" y="2040976"/>
            <a:ext cx="1813591" cy="5386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nhaltsplatzhalter 2"/>
          <p:cNvSpPr txBox="1">
            <a:spLocks/>
          </p:cNvSpPr>
          <p:nvPr/>
        </p:nvSpPr>
        <p:spPr>
          <a:xfrm>
            <a:off x="7274011" y="1746411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(Methoden)</a:t>
            </a:r>
            <a:r>
              <a:rPr lang="de-AT" i="1" dirty="0" err="1" smtClean="0"/>
              <a:t>parameter</a:t>
            </a:r>
            <a:endParaRPr lang="de-AT" i="1" dirty="0" smtClean="0"/>
          </a:p>
        </p:txBody>
      </p:sp>
    </p:spTree>
    <p:extLst>
      <p:ext uri="{BB962C8B-B14F-4D97-AF65-F5344CB8AC3E}">
        <p14:creationId xmlns:p14="http://schemas.microsoft.com/office/powerpoint/2010/main" val="422909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Rekursive Methode</a:t>
            </a:r>
            <a:endParaRPr lang="de-AT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801402" cy="1226714"/>
          </a:xfrm>
        </p:spPr>
        <p:txBody>
          <a:bodyPr>
            <a:normAutofit/>
          </a:bodyPr>
          <a:lstStyle/>
          <a:p>
            <a:r>
              <a:rPr lang="de-AT" dirty="0" smtClean="0"/>
              <a:t>Wiederholter Aufruf derselben Methode durch sich selbst</a:t>
            </a:r>
          </a:p>
          <a:p>
            <a:r>
              <a:rPr lang="de-AT" dirty="0" smtClean="0"/>
              <a:t>Baumstruktur („Stack“) wird aufgebaut und wieder abgebaut</a:t>
            </a:r>
          </a:p>
          <a:p>
            <a:r>
              <a:rPr lang="de-AT" dirty="0" smtClean="0"/>
              <a:t>Ohne Abbruchbedingung </a:t>
            </a:r>
            <a:r>
              <a:rPr lang="de-AT" dirty="0" smtClean="0">
                <a:sym typeface="Wingdings" panose="05000000000000000000" pitchFamily="2" charset="2"/>
              </a:rPr>
              <a:t> Endlosschleife („Stack </a:t>
            </a:r>
            <a:r>
              <a:rPr lang="de-AT" dirty="0" err="1" smtClean="0">
                <a:sym typeface="Wingdings" panose="05000000000000000000" pitchFamily="2" charset="2"/>
              </a:rPr>
              <a:t>overflow</a:t>
            </a:r>
            <a:r>
              <a:rPr lang="de-AT" dirty="0" smtClean="0">
                <a:sym typeface="Wingdings" panose="05000000000000000000" pitchFamily="2" charset="2"/>
              </a:rPr>
              <a:t>“)</a:t>
            </a:r>
            <a:endParaRPr lang="de-AT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33398" y="2687038"/>
            <a:ext cx="798775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p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ublic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Fakultaet</a:t>
            </a:r>
            <a:r>
              <a:rPr lang="de-DE" altLang="de-DE" dirty="0" smtClean="0">
                <a:latin typeface="Lucida Console" panose="020B0609040504020204" pitchFamily="49" charset="0"/>
              </a:rPr>
              <a:t>(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n</a:t>
            </a:r>
            <a:r>
              <a:rPr lang="de-DE" altLang="de-DE" dirty="0" smtClean="0">
                <a:latin typeface="Lucida Console" panose="020B0609040504020204" pitchFamily="49" charset="0"/>
              </a:rPr>
              <a:t>)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</a:b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If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(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n </a:t>
            </a:r>
            <a:r>
              <a:rPr lang="de-DE" altLang="de-DE" dirty="0" smtClean="0">
                <a:latin typeface="Lucida Console" panose="020B0609040504020204" pitchFamily="49" charset="0"/>
              </a:rPr>
              <a:t>&lt;=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1</a:t>
            </a:r>
            <a:r>
              <a:rPr lang="de-DE" altLang="de-DE" dirty="0" smtClean="0">
                <a:latin typeface="Lucida Console" panose="020B0609040504020204" pitchFamily="49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	{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de-DE" altLang="de-DE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1;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Else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{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		</a:t>
            </a:r>
            <a:r>
              <a:rPr lang="de-DE" altLang="de-DE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return</a:t>
            </a:r>
            <a:r>
              <a:rPr lang="de-DE" altLang="de-DE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n </a:t>
            </a:r>
            <a:r>
              <a:rPr lang="de-DE" altLang="de-DE" dirty="0" smtClean="0">
                <a:latin typeface="Lucida Console" panose="020B0609040504020204" pitchFamily="49" charset="0"/>
              </a:rPr>
              <a:t>*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Fakultaet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>
                <a:latin typeface="Lucida Console" panose="020B0609040504020204" pitchFamily="49" charset="0"/>
              </a:rPr>
              <a:t>(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n</a:t>
            </a:r>
            <a:r>
              <a:rPr lang="de-DE" altLang="de-DE" dirty="0" smtClean="0">
                <a:latin typeface="Lucida Console" panose="020B0609040504020204" pitchFamily="49" charset="0"/>
              </a:rPr>
              <a:t>-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1</a:t>
            </a:r>
            <a:r>
              <a:rPr lang="de-DE" altLang="de-DE" dirty="0" smtClean="0">
                <a:latin typeface="Lucida Console" panose="020B0609040504020204" pitchFamily="49" charset="0"/>
              </a:rPr>
              <a:t>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	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}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/>
            </a:r>
            <a:b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</a:br>
            <a:r>
              <a:rPr kumimoji="0" lang="de-DE" altLang="de-DE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de-DE" altLang="de-DE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de-DE" altLang="de-DE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Inhaltsplatzhalter 2"/>
          <p:cNvSpPr txBox="1">
            <a:spLocks/>
          </p:cNvSpPr>
          <p:nvPr/>
        </p:nvSpPr>
        <p:spPr>
          <a:xfrm>
            <a:off x="7747539" y="3505805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Abbruchbedingung</a:t>
            </a:r>
          </a:p>
        </p:txBody>
      </p:sp>
      <p:cxnSp>
        <p:nvCxnSpPr>
          <p:cNvPr id="13" name="Gerade Verbindung mit Pfeil 12"/>
          <p:cNvCxnSpPr/>
          <p:nvPr/>
        </p:nvCxnSpPr>
        <p:spPr>
          <a:xfrm flipH="1">
            <a:off x="5515429" y="3702399"/>
            <a:ext cx="2159003" cy="238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/>
          <p:cNvSpPr txBox="1">
            <a:spLocks/>
          </p:cNvSpPr>
          <p:nvPr/>
        </p:nvSpPr>
        <p:spPr>
          <a:xfrm>
            <a:off x="7112711" y="5481703"/>
            <a:ext cx="3216875" cy="815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Rekursiver Aufruf mit verändertem n-Parameter</a:t>
            </a:r>
          </a:p>
        </p:txBody>
      </p:sp>
      <p:cxnSp>
        <p:nvCxnSpPr>
          <p:cNvPr id="15" name="Gerade Verbindung mit Pfeil 14"/>
          <p:cNvCxnSpPr/>
          <p:nvPr/>
        </p:nvCxnSpPr>
        <p:spPr>
          <a:xfrm flipH="1" flipV="1">
            <a:off x="6429078" y="5215894"/>
            <a:ext cx="683634" cy="5172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12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smtClean="0"/>
              <a:t>Arrays</a:t>
            </a:r>
            <a:endParaRPr lang="de-AT" dirty="0"/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677334" y="1592179"/>
            <a:ext cx="8596668" cy="1027453"/>
          </a:xfrm>
        </p:spPr>
        <p:txBody>
          <a:bodyPr>
            <a:normAutofit fontScale="92500" lnSpcReduction="20000"/>
          </a:bodyPr>
          <a:lstStyle/>
          <a:p>
            <a:r>
              <a:rPr lang="de-AT" dirty="0" smtClean="0"/>
              <a:t>Ansammlung von Mengen</a:t>
            </a:r>
          </a:p>
          <a:p>
            <a:r>
              <a:rPr lang="de-AT" dirty="0" smtClean="0"/>
              <a:t>Mengen haben gleichen Datentyp (</a:t>
            </a:r>
            <a:r>
              <a:rPr lang="de-AT" dirty="0" err="1" smtClean="0"/>
              <a:t>zB</a:t>
            </a:r>
            <a:r>
              <a:rPr lang="de-AT" dirty="0" smtClean="0"/>
              <a:t> Zeichenketten, Zahlen etc.)</a:t>
            </a:r>
          </a:p>
          <a:p>
            <a:r>
              <a:rPr lang="de-AT" dirty="0" smtClean="0"/>
              <a:t>Entweder fixe Größe oder dynamisch(über Umwege)</a:t>
            </a:r>
            <a:endParaRPr lang="de-AT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33398" y="3352037"/>
            <a:ext cx="912180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kumimoji="0" lang="de-DE" altLang="de-DE" b="1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nt</a:t>
            </a:r>
            <a:r>
              <a:rPr kumimoji="0" lang="de-DE" altLang="de-DE" i="0" u="none" strike="noStrike" cap="none" normalizeH="0" baseline="0" dirty="0" smtClean="0">
                <a:ln>
                  <a:noFill/>
                </a:ln>
                <a:effectLst/>
                <a:latin typeface="Lucida Console" panose="020B0609040504020204" pitchFamily="49" charset="0"/>
              </a:rPr>
              <a:t>[]</a:t>
            </a:r>
            <a:r>
              <a:rPr kumimoji="0" lang="de-DE" altLang="de-DE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de-DE" altLang="de-DE" dirty="0" err="1">
                <a:solidFill>
                  <a:srgbClr val="000000"/>
                </a:solidFill>
                <a:latin typeface="Lucida Console" panose="020B0609040504020204" pitchFamily="49" charset="0"/>
              </a:rPr>
              <a:t>a</a:t>
            </a:r>
            <a:r>
              <a:rPr lang="de-DE" altLang="de-DE" dirty="0" err="1" smtClean="0">
                <a:solidFill>
                  <a:srgbClr val="000000"/>
                </a:solidFill>
                <a:latin typeface="Lucida Console" panose="020B0609040504020204" pitchFamily="49" charset="0"/>
              </a:rPr>
              <a:t>rrayname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= 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new</a:t>
            </a:r>
            <a:r>
              <a:rPr lang="de-DE" altLang="de-DE" dirty="0" smtClean="0">
                <a:solidFill>
                  <a:srgbClr val="00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latin typeface="Lucida Console" panose="020B0609040504020204" pitchFamily="49" charset="0"/>
              </a:rPr>
              <a:t>[</a:t>
            </a:r>
            <a:r>
              <a:rPr lang="de-DE" altLang="de-DE" dirty="0">
                <a:solidFill>
                  <a:srgbClr val="000000"/>
                </a:solidFill>
                <a:latin typeface="Lucida Console" panose="020B0609040504020204" pitchFamily="49" charset="0"/>
              </a:rPr>
              <a:t>6</a:t>
            </a:r>
            <a:r>
              <a:rPr lang="de-DE" altLang="de-DE" dirty="0" smtClean="0">
                <a:latin typeface="Lucida Console" panose="020B0609040504020204" pitchFamily="49" charset="0"/>
              </a:rPr>
              <a:t>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de-DE" b="1" dirty="0">
              <a:solidFill>
                <a:srgbClr val="FF0000"/>
              </a:solidFill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i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nt</a:t>
            </a:r>
            <a:r>
              <a:rPr lang="de-DE" altLang="de-DE" dirty="0" smtClean="0">
                <a:latin typeface="Lucida Console" panose="020B0609040504020204" pitchFamily="49" charset="0"/>
              </a:rPr>
              <a:t>[]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err="1" smtClean="0">
                <a:latin typeface="Lucida Console" panose="020B0609040504020204" pitchFamily="49" charset="0"/>
              </a:rPr>
              <a:t>arrayname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=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new </a:t>
            </a:r>
            <a:r>
              <a:rPr lang="de-DE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int</a:t>
            </a:r>
            <a:r>
              <a:rPr lang="de-DE" altLang="de-DE" dirty="0" smtClean="0">
                <a:latin typeface="Lucida Console" panose="020B0609040504020204" pitchFamily="49" charset="0"/>
              </a:rPr>
              <a:t>[]</a:t>
            </a:r>
            <a:r>
              <a:rPr lang="de-DE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de-DE" altLang="de-DE" dirty="0" smtClean="0">
                <a:latin typeface="Lucida Console" panose="020B0609040504020204" pitchFamily="49" charset="0"/>
              </a:rPr>
              <a:t>{ </a:t>
            </a:r>
            <a:r>
              <a:rPr lang="de-DE" altLang="de-DE" dirty="0">
                <a:latin typeface="Lucida Console" panose="020B0609040504020204" pitchFamily="49" charset="0"/>
              </a:rPr>
              <a:t>1</a:t>
            </a:r>
            <a:r>
              <a:rPr lang="de-DE" altLang="de-DE" dirty="0" smtClean="0">
                <a:latin typeface="Lucida Console" panose="020B0609040504020204" pitchFamily="49" charset="0"/>
              </a:rPr>
              <a:t>, 2, 3, 4, 5, 6 };</a:t>
            </a:r>
          </a:p>
        </p:txBody>
      </p:sp>
      <p:cxnSp>
        <p:nvCxnSpPr>
          <p:cNvPr id="5" name="Gerade Verbindung mit Pfeil 4"/>
          <p:cNvCxnSpPr/>
          <p:nvPr/>
        </p:nvCxnSpPr>
        <p:spPr>
          <a:xfrm flipH="1">
            <a:off x="4672771" y="2906486"/>
            <a:ext cx="2421267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nhaltsplatzhalter 2"/>
          <p:cNvSpPr txBox="1">
            <a:spLocks/>
          </p:cNvSpPr>
          <p:nvPr/>
        </p:nvSpPr>
        <p:spPr>
          <a:xfrm>
            <a:off x="7196514" y="2741900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Kapazität</a:t>
            </a:r>
          </a:p>
        </p:txBody>
      </p:sp>
      <p:cxnSp>
        <p:nvCxnSpPr>
          <p:cNvPr id="13" name="Gerade Verbindung mit Pfeil 12"/>
          <p:cNvCxnSpPr/>
          <p:nvPr/>
        </p:nvCxnSpPr>
        <p:spPr>
          <a:xfrm flipH="1" flipV="1">
            <a:off x="6212114" y="4397829"/>
            <a:ext cx="769455" cy="592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nhaltsplatzhalter 2"/>
          <p:cNvSpPr txBox="1">
            <a:spLocks/>
          </p:cNvSpPr>
          <p:nvPr/>
        </p:nvSpPr>
        <p:spPr>
          <a:xfrm>
            <a:off x="7094039" y="5027429"/>
            <a:ext cx="3216875" cy="815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Zuweisung/Initialisierung</a:t>
            </a:r>
          </a:p>
        </p:txBody>
      </p:sp>
      <p:sp>
        <p:nvSpPr>
          <p:cNvPr id="17" name="Inhaltsplatzhalter 2"/>
          <p:cNvSpPr txBox="1">
            <a:spLocks/>
          </p:cNvSpPr>
          <p:nvPr/>
        </p:nvSpPr>
        <p:spPr>
          <a:xfrm>
            <a:off x="2391989" y="4732863"/>
            <a:ext cx="2902310" cy="589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de-AT" i="1" dirty="0" smtClean="0"/>
              <a:t>Datentyp</a:t>
            </a:r>
          </a:p>
        </p:txBody>
      </p:sp>
      <p:cxnSp>
        <p:nvCxnSpPr>
          <p:cNvPr id="18" name="Gerade Verbindung mit Pfeil 17"/>
          <p:cNvCxnSpPr/>
          <p:nvPr/>
        </p:nvCxnSpPr>
        <p:spPr>
          <a:xfrm flipV="1">
            <a:off x="3358579" y="4275367"/>
            <a:ext cx="595735" cy="4827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1812500" y="5986154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1	</a:t>
            </a:r>
            <a:endParaRPr lang="de-AT" dirty="0"/>
          </a:p>
        </p:txBody>
      </p:sp>
      <p:sp>
        <p:nvSpPr>
          <p:cNvPr id="19" name="Textfeld 18"/>
          <p:cNvSpPr txBox="1"/>
          <p:nvPr/>
        </p:nvSpPr>
        <p:spPr>
          <a:xfrm>
            <a:off x="2522792" y="5986154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2</a:t>
            </a:r>
            <a:endParaRPr lang="de-AT" dirty="0"/>
          </a:p>
        </p:txBody>
      </p:sp>
      <p:sp>
        <p:nvSpPr>
          <p:cNvPr id="20" name="Textfeld 19"/>
          <p:cNvSpPr txBox="1"/>
          <p:nvPr/>
        </p:nvSpPr>
        <p:spPr>
          <a:xfrm>
            <a:off x="3235856" y="5986154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3</a:t>
            </a:r>
            <a:endParaRPr lang="de-AT" dirty="0"/>
          </a:p>
        </p:txBody>
      </p:sp>
      <p:sp>
        <p:nvSpPr>
          <p:cNvPr id="21" name="Textfeld 20"/>
          <p:cNvSpPr txBox="1"/>
          <p:nvPr/>
        </p:nvSpPr>
        <p:spPr>
          <a:xfrm>
            <a:off x="3954314" y="5983551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4</a:t>
            </a:r>
            <a:endParaRPr lang="de-AT" dirty="0"/>
          </a:p>
        </p:txBody>
      </p:sp>
      <p:sp>
        <p:nvSpPr>
          <p:cNvPr id="22" name="Textfeld 21"/>
          <p:cNvSpPr txBox="1"/>
          <p:nvPr/>
        </p:nvSpPr>
        <p:spPr>
          <a:xfrm>
            <a:off x="4672771" y="5986544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5</a:t>
            </a:r>
            <a:endParaRPr lang="de-AT" dirty="0"/>
          </a:p>
        </p:txBody>
      </p:sp>
      <p:sp>
        <p:nvSpPr>
          <p:cNvPr id="23" name="Textfeld 22"/>
          <p:cNvSpPr txBox="1"/>
          <p:nvPr/>
        </p:nvSpPr>
        <p:spPr>
          <a:xfrm>
            <a:off x="5391228" y="5982681"/>
            <a:ext cx="7184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AT" dirty="0" smtClean="0"/>
              <a:t>6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9484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9354" y="484554"/>
            <a:ext cx="8596668" cy="1320800"/>
          </a:xfrm>
        </p:spPr>
        <p:txBody>
          <a:bodyPr/>
          <a:lstStyle/>
          <a:p>
            <a:r>
              <a:rPr lang="de-AT" dirty="0" smtClean="0"/>
              <a:t>Dateizugriff - Lesen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2215" y="952361"/>
            <a:ext cx="10261600" cy="596537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AT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de-AT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AT" dirty="0" err="1" smtClean="0">
                <a:solidFill>
                  <a:srgbClr val="FF0000"/>
                </a:solidFill>
              </a:rPr>
              <a:t>int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>
                <a:solidFill>
                  <a:schemeClr val="tx1"/>
                </a:solidFill>
              </a:rPr>
              <a:t>counter</a:t>
            </a:r>
            <a:r>
              <a:rPr lang="de-AT" dirty="0">
                <a:solidFill>
                  <a:schemeClr val="tx1"/>
                </a:solidFill>
              </a:rPr>
              <a:t> = 0;</a:t>
            </a:r>
          </a:p>
          <a:p>
            <a:pPr marL="0" indent="0">
              <a:buNone/>
            </a:pPr>
            <a:r>
              <a:rPr lang="de-AT" dirty="0" err="1">
                <a:solidFill>
                  <a:srgbClr val="FF0000"/>
                </a:solidFill>
              </a:rPr>
              <a:t>string</a:t>
            </a:r>
            <a:r>
              <a:rPr lang="de-AT" dirty="0"/>
              <a:t> </a:t>
            </a:r>
            <a:r>
              <a:rPr lang="de-AT" dirty="0" err="1">
                <a:solidFill>
                  <a:schemeClr val="tx1"/>
                </a:solidFill>
              </a:rPr>
              <a:t>line</a:t>
            </a:r>
            <a:r>
              <a:rPr lang="de-AT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endParaRPr lang="de-AT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AT" dirty="0" err="1" smtClean="0">
                <a:solidFill>
                  <a:srgbClr val="FF0000"/>
                </a:solidFill>
              </a:rPr>
              <a:t>System.IO.StreamReader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>
                <a:solidFill>
                  <a:schemeClr val="tx1"/>
                </a:solidFill>
              </a:rPr>
              <a:t>file</a:t>
            </a:r>
            <a:r>
              <a:rPr lang="de-AT" dirty="0">
                <a:solidFill>
                  <a:srgbClr val="FF0000"/>
                </a:solidFill>
              </a:rPr>
              <a:t> </a:t>
            </a:r>
            <a:r>
              <a:rPr lang="de-AT" dirty="0">
                <a:solidFill>
                  <a:schemeClr val="tx1"/>
                </a:solidFill>
              </a:rPr>
              <a:t>=</a:t>
            </a:r>
            <a:r>
              <a:rPr lang="de-AT" dirty="0">
                <a:solidFill>
                  <a:srgbClr val="FF0000"/>
                </a:solidFill>
              </a:rPr>
              <a:t> </a:t>
            </a:r>
            <a:r>
              <a:rPr lang="de-AT" dirty="0" err="1" smtClean="0">
                <a:solidFill>
                  <a:srgbClr val="FF0000"/>
                </a:solidFill>
              </a:rPr>
              <a:t>new</a:t>
            </a:r>
            <a:r>
              <a:rPr lang="de-AT" dirty="0" smtClean="0">
                <a:solidFill>
                  <a:srgbClr val="FF0000"/>
                </a:solidFill>
              </a:rPr>
              <a:t> </a:t>
            </a:r>
            <a:r>
              <a:rPr lang="de-AT" dirty="0" err="1">
                <a:solidFill>
                  <a:srgbClr val="FF0000"/>
                </a:solidFill>
              </a:rPr>
              <a:t>System.IO.StreamReader</a:t>
            </a:r>
            <a:r>
              <a:rPr lang="de-AT" dirty="0">
                <a:solidFill>
                  <a:schemeClr val="tx1"/>
                </a:solidFill>
              </a:rPr>
              <a:t>(</a:t>
            </a:r>
            <a:r>
              <a:rPr lang="de-AT" dirty="0">
                <a:solidFill>
                  <a:srgbClr val="FF0000"/>
                </a:solidFill>
              </a:rPr>
              <a:t>@</a:t>
            </a:r>
            <a:r>
              <a:rPr lang="de-AT" dirty="0">
                <a:solidFill>
                  <a:schemeClr val="tx1"/>
                </a:solidFill>
              </a:rPr>
              <a:t>"c:\test.txt");</a:t>
            </a:r>
          </a:p>
          <a:p>
            <a:pPr marL="0" indent="0">
              <a:buNone/>
            </a:pPr>
            <a:r>
              <a:rPr lang="de-AT" dirty="0">
                <a:solidFill>
                  <a:srgbClr val="FF0000"/>
                </a:solidFill>
              </a:rPr>
              <a:t>while</a:t>
            </a:r>
            <a:r>
              <a:rPr lang="de-AT" dirty="0">
                <a:solidFill>
                  <a:schemeClr val="tx1"/>
                </a:solidFill>
              </a:rPr>
              <a:t>((</a:t>
            </a:r>
            <a:r>
              <a:rPr lang="de-AT" dirty="0" err="1">
                <a:solidFill>
                  <a:schemeClr val="tx1"/>
                </a:solidFill>
              </a:rPr>
              <a:t>line</a:t>
            </a:r>
            <a:r>
              <a:rPr lang="de-AT" dirty="0">
                <a:solidFill>
                  <a:schemeClr val="tx1"/>
                </a:solidFill>
              </a:rPr>
              <a:t> =</a:t>
            </a:r>
            <a:r>
              <a:rPr lang="de-AT" dirty="0">
                <a:solidFill>
                  <a:srgbClr val="FF0000"/>
                </a:solidFill>
              </a:rPr>
              <a:t> </a:t>
            </a:r>
            <a:r>
              <a:rPr lang="de-AT" dirty="0" err="1">
                <a:solidFill>
                  <a:schemeClr val="tx1"/>
                </a:solidFill>
              </a:rPr>
              <a:t>file.ReadLine</a:t>
            </a:r>
            <a:r>
              <a:rPr lang="de-AT" dirty="0">
                <a:solidFill>
                  <a:schemeClr val="tx1"/>
                </a:solidFill>
              </a:rPr>
              <a:t>())</a:t>
            </a:r>
            <a:r>
              <a:rPr lang="de-AT" dirty="0"/>
              <a:t> </a:t>
            </a:r>
            <a:r>
              <a:rPr lang="de-AT" dirty="0">
                <a:solidFill>
                  <a:schemeClr val="tx1"/>
                </a:solidFill>
              </a:rPr>
              <a:t>!= null)</a:t>
            </a:r>
          </a:p>
          <a:p>
            <a:pPr marL="0" indent="0">
              <a:buNone/>
            </a:pPr>
            <a:r>
              <a:rPr lang="de-AT" dirty="0">
                <a:solidFill>
                  <a:srgbClr val="FF0000"/>
                </a:solidFill>
              </a:rPr>
              <a:t>{</a:t>
            </a:r>
          </a:p>
          <a:p>
            <a:pPr marL="0" indent="0">
              <a:buNone/>
            </a:pPr>
            <a:r>
              <a:rPr lang="de-AT" dirty="0"/>
              <a:t>    </a:t>
            </a:r>
            <a:r>
              <a:rPr lang="de-AT" dirty="0" err="1">
                <a:solidFill>
                  <a:schemeClr val="tx1"/>
                </a:solidFill>
              </a:rPr>
              <a:t>System.Console.WriteLine</a:t>
            </a:r>
            <a:r>
              <a:rPr lang="de-AT" dirty="0">
                <a:solidFill>
                  <a:schemeClr val="tx1"/>
                </a:solidFill>
              </a:rPr>
              <a:t> (</a:t>
            </a:r>
            <a:r>
              <a:rPr lang="de-AT" dirty="0" err="1">
                <a:solidFill>
                  <a:schemeClr val="tx1"/>
                </a:solidFill>
              </a:rPr>
              <a:t>line</a:t>
            </a:r>
            <a:r>
              <a:rPr lang="de-AT" dirty="0">
                <a:solidFill>
                  <a:schemeClr val="tx1"/>
                </a:solidFill>
              </a:rPr>
              <a:t>);</a:t>
            </a:r>
          </a:p>
          <a:p>
            <a:pPr marL="0" indent="0">
              <a:buNone/>
            </a:pPr>
            <a:r>
              <a:rPr lang="de-AT" dirty="0"/>
              <a:t>    </a:t>
            </a:r>
            <a:r>
              <a:rPr lang="de-AT" dirty="0" err="1">
                <a:solidFill>
                  <a:schemeClr val="tx1"/>
                </a:solidFill>
              </a:rPr>
              <a:t>counter</a:t>
            </a:r>
            <a:r>
              <a:rPr lang="de-AT" dirty="0">
                <a:solidFill>
                  <a:schemeClr val="tx1"/>
                </a:solidFill>
              </a:rPr>
              <a:t>++;</a:t>
            </a:r>
          </a:p>
          <a:p>
            <a:pPr marL="0" indent="0">
              <a:buNone/>
            </a:pPr>
            <a:r>
              <a:rPr lang="de-AT" dirty="0" smtClean="0">
                <a:solidFill>
                  <a:srgbClr val="FF0000"/>
                </a:solidFill>
              </a:rPr>
              <a:t>}</a:t>
            </a:r>
            <a:endParaRPr lang="de-AT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e-AT" dirty="0" err="1">
                <a:solidFill>
                  <a:schemeClr val="tx1"/>
                </a:solidFill>
              </a:rPr>
              <a:t>file.Close</a:t>
            </a:r>
            <a:r>
              <a:rPr lang="de-AT" dirty="0" smtClean="0">
                <a:solidFill>
                  <a:schemeClr val="tx1"/>
                </a:solidFill>
              </a:rPr>
              <a:t>();</a:t>
            </a:r>
            <a:endParaRPr lang="de-AT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796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92349" y="449384"/>
            <a:ext cx="8596668" cy="1320800"/>
          </a:xfrm>
        </p:spPr>
        <p:txBody>
          <a:bodyPr/>
          <a:lstStyle/>
          <a:p>
            <a:r>
              <a:rPr lang="de-AT" dirty="0" smtClean="0"/>
              <a:t>Dateizugriff - Schreiben</a:t>
            </a:r>
            <a:endParaRPr lang="de-AT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5819" y="1686160"/>
            <a:ext cx="1109574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string</a:t>
            </a:r>
            <a:r>
              <a:rPr lang="en-US" altLang="de-DE" dirty="0">
                <a:latin typeface="Lucida Console" panose="020B0609040504020204" pitchFamily="49" charset="0"/>
              </a:rPr>
              <a:t> lines = </a:t>
            </a:r>
            <a:r>
              <a:rPr lang="en-US" altLang="de-DE" dirty="0" smtClean="0">
                <a:latin typeface="Lucida Console" panose="020B0609040504020204" pitchFamily="49" charset="0"/>
              </a:rPr>
              <a:t>"First line.</a:t>
            </a:r>
            <a:r>
              <a:rPr lang="en-US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\r\</a:t>
            </a:r>
            <a:r>
              <a:rPr lang="en-US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de-DE" dirty="0" err="1" smtClean="0">
                <a:latin typeface="Lucida Console" panose="020B0609040504020204" pitchFamily="49" charset="0"/>
              </a:rPr>
              <a:t>Second</a:t>
            </a:r>
            <a:r>
              <a:rPr lang="en-US" altLang="de-DE" dirty="0" smtClean="0">
                <a:latin typeface="Lucida Console" panose="020B0609040504020204" pitchFamily="49" charset="0"/>
              </a:rPr>
              <a:t> line.</a:t>
            </a:r>
            <a:r>
              <a:rPr lang="en-US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\r\</a:t>
            </a:r>
            <a:r>
              <a:rPr lang="en-US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n</a:t>
            </a:r>
            <a:r>
              <a:rPr lang="en-US" altLang="de-DE" dirty="0" err="1" smtClean="0">
                <a:latin typeface="Lucida Console" panose="020B0609040504020204" pitchFamily="49" charset="0"/>
              </a:rPr>
              <a:t>Third</a:t>
            </a:r>
            <a:r>
              <a:rPr lang="en-US" altLang="de-DE" dirty="0" smtClean="0">
                <a:latin typeface="Lucida Console" panose="020B0609040504020204" pitchFamily="49" charset="0"/>
              </a:rPr>
              <a:t> line.";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System.IO.StreamWriter</a:t>
            </a:r>
            <a:r>
              <a:rPr lang="en-US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file </a:t>
            </a:r>
            <a:r>
              <a:rPr lang="en-US" altLang="de-DE" dirty="0">
                <a:latin typeface="Lucida Console" panose="020B0609040504020204" pitchFamily="49" charset="0"/>
              </a:rPr>
              <a:t>=</a:t>
            </a:r>
            <a:r>
              <a:rPr lang="en-US" altLang="de-DE" b="1" dirty="0">
                <a:solidFill>
                  <a:srgbClr val="FF0000"/>
                </a:solidFill>
                <a:latin typeface="Lucida Console" panose="020B0609040504020204" pitchFamily="49" charset="0"/>
              </a:rPr>
              <a:t> </a:t>
            </a:r>
            <a:r>
              <a:rPr lang="en-US" altLang="de-DE" b="1" dirty="0" smtClean="0">
                <a:solidFill>
                  <a:srgbClr val="FF0000"/>
                </a:solidFill>
                <a:latin typeface="Lucida Console" panose="020B0609040504020204" pitchFamily="49" charset="0"/>
              </a:rPr>
              <a:t>new </a:t>
            </a:r>
            <a:r>
              <a:rPr lang="en-US" altLang="de-DE" b="1" dirty="0" err="1" smtClean="0">
                <a:solidFill>
                  <a:srgbClr val="FF0000"/>
                </a:solidFill>
                <a:latin typeface="Lucida Console" panose="020B0609040504020204" pitchFamily="49" charset="0"/>
              </a:rPr>
              <a:t>System.IO.StreamWriter</a:t>
            </a:r>
            <a:r>
              <a:rPr lang="en-US" altLang="de-DE" dirty="0" smtClean="0">
                <a:latin typeface="Lucida Console" panose="020B0609040504020204" pitchFamily="49" charset="0"/>
              </a:rPr>
              <a:t>(</a:t>
            </a:r>
            <a:r>
              <a:rPr lang="de-AT" dirty="0">
                <a:solidFill>
                  <a:srgbClr val="FF0000"/>
                </a:solidFill>
              </a:rPr>
              <a:t>@</a:t>
            </a:r>
            <a:r>
              <a:rPr lang="en-US" altLang="de-DE" dirty="0" smtClean="0">
                <a:latin typeface="Lucida Console" panose="020B0609040504020204" pitchFamily="49" charset="0"/>
              </a:rPr>
              <a:t>"</a:t>
            </a:r>
            <a:r>
              <a:rPr lang="en-US" altLang="de-DE" dirty="0">
                <a:latin typeface="Lucida Console" panose="020B0609040504020204" pitchFamily="49" charset="0"/>
              </a:rPr>
              <a:t>c:\\test.txt");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file.WriteLine</a:t>
            </a:r>
            <a:r>
              <a:rPr lang="en-US" altLang="de-DE" dirty="0">
                <a:latin typeface="Lucida Console" panose="020B0609040504020204" pitchFamily="49" charset="0"/>
              </a:rPr>
              <a:t>(lines);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de-DE" dirty="0">
              <a:latin typeface="Lucida Console" panose="020B060904050402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de-DE" b="1" dirty="0" err="1">
                <a:solidFill>
                  <a:srgbClr val="FF0000"/>
                </a:solidFill>
                <a:latin typeface="Lucida Console" panose="020B0609040504020204" pitchFamily="49" charset="0"/>
              </a:rPr>
              <a:t>file.Close</a:t>
            </a:r>
            <a:r>
              <a:rPr lang="en-US" altLang="de-DE" dirty="0">
                <a:latin typeface="Lucida Console" panose="020B0609040504020204" pitchFamily="49" charset="0"/>
              </a:rPr>
              <a:t>();</a:t>
            </a:r>
            <a:endParaRPr kumimoji="0" lang="de-DE" altLang="de-DE" sz="400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218830" y="1145374"/>
            <a:ext cx="3360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Variable „</a:t>
            </a:r>
            <a:r>
              <a:rPr lang="de-AT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lines</a:t>
            </a:r>
            <a:r>
              <a:rPr lang="de-AT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“ speichert den </a:t>
            </a:r>
            <a:r>
              <a:rPr lang="de-AT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Text,</a:t>
            </a:r>
          </a:p>
          <a:p>
            <a:r>
              <a:rPr lang="de-AT" sz="1400" i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AT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der dann in die Datei gespeichert wird</a:t>
            </a:r>
            <a:endParaRPr lang="de-AT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" name="Gerade Verbindung mit Pfeil 5"/>
          <p:cNvCxnSpPr/>
          <p:nvPr/>
        </p:nvCxnSpPr>
        <p:spPr>
          <a:xfrm>
            <a:off x="1187938" y="1668594"/>
            <a:ext cx="562707" cy="23836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37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809</Words>
  <Application>Microsoft Office PowerPoint</Application>
  <PresentationFormat>Benutzerdefiniert</PresentationFormat>
  <Paragraphs>265</Paragraphs>
  <Slides>26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26</vt:i4>
      </vt:variant>
    </vt:vector>
  </HeadingPairs>
  <TitlesOfParts>
    <vt:vector size="27" baseType="lpstr">
      <vt:lpstr>Facette</vt:lpstr>
      <vt:lpstr>C# – Strukturierte Programmierung</vt:lpstr>
      <vt:lpstr>C#</vt:lpstr>
      <vt:lpstr>Grundlegender Aufbau</vt:lpstr>
      <vt:lpstr>Usings</vt:lpstr>
      <vt:lpstr>Kommentare</vt:lpstr>
      <vt:lpstr>Variablen</vt:lpstr>
      <vt:lpstr>Konstanten</vt:lpstr>
      <vt:lpstr>Einfache Befehle</vt:lpstr>
      <vt:lpstr>Einfache Befehle</vt:lpstr>
      <vt:lpstr>Einfaches Beispiel</vt:lpstr>
      <vt:lpstr>Operatoren</vt:lpstr>
      <vt:lpstr>Bedingte Anweisung (Entweder-Oder)</vt:lpstr>
      <vt:lpstr>Bedingte Anweisung (Entweder-Oder)</vt:lpstr>
      <vt:lpstr>Schleifen</vt:lpstr>
      <vt:lpstr>While-Schleife</vt:lpstr>
      <vt:lpstr>Do-While-Schleife</vt:lpstr>
      <vt:lpstr>For-Schleife</vt:lpstr>
      <vt:lpstr>For-Each-Schleife</vt:lpstr>
      <vt:lpstr>Schleifen unterbrechen</vt:lpstr>
      <vt:lpstr>Methoden mit Rückgabewert </vt:lpstr>
      <vt:lpstr>Methoden ohne Rückgabewert </vt:lpstr>
      <vt:lpstr>Parameter (Methode)</vt:lpstr>
      <vt:lpstr>Rekursive Methode</vt:lpstr>
      <vt:lpstr>Arrays</vt:lpstr>
      <vt:lpstr>Dateizugriff - Lesen</vt:lpstr>
      <vt:lpstr>Dateizugriff - Schreiben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2.4 – Use Cases</dc:title>
  <dc:creator>Thomas Tschofenig</dc:creator>
  <cp:lastModifiedBy>viuser</cp:lastModifiedBy>
  <cp:revision>105</cp:revision>
  <dcterms:created xsi:type="dcterms:W3CDTF">2013-05-14T07:18:37Z</dcterms:created>
  <dcterms:modified xsi:type="dcterms:W3CDTF">2016-01-08T10:30:56Z</dcterms:modified>
</cp:coreProperties>
</file>