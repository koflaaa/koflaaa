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D32BC1-8DC8-4DE6-B706-F57F5D623744}" v="1285" dt="2023-03-20T11:40:37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20.03.2023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de-DE" sz="4800">
                <a:solidFill>
                  <a:srgbClr val="FFFFFF"/>
                </a:solidFill>
                <a:latin typeface="Times New Roman"/>
                <a:cs typeface="Calibri Light"/>
              </a:rPr>
              <a:t>Flussdiagramm</a:t>
            </a:r>
            <a:endParaRPr lang="de-DE" sz="4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de-DE">
                <a:solidFill>
                  <a:srgbClr val="FFFFFF"/>
                </a:solidFill>
                <a:latin typeface="Times New Roman"/>
                <a:cs typeface="Calibri"/>
              </a:rPr>
              <a:t>Kofler Taylor</a:t>
            </a:r>
            <a:endParaRPr lang="de-DE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2CE69-99F8-9EE4-5567-45E92C783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AT" sz="4000">
                <a:solidFill>
                  <a:srgbClr val="FFFFFF"/>
                </a:solidFill>
                <a:latin typeface="Times New Roman"/>
                <a:cs typeface="Calibri Light"/>
              </a:rPr>
              <a:t>Was ist ein Flussdiagramm?</a:t>
            </a:r>
            <a:endParaRPr lang="en-US" sz="4000">
              <a:solidFill>
                <a:srgbClr val="FFFFFF"/>
              </a:solidFill>
              <a:latin typeface="Times New Roman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6FE26-5B49-8D7C-6BB1-E0BD5634E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000" dirty="0">
                <a:latin typeface="Times New Roman"/>
                <a:cs typeface="Calibri"/>
              </a:rPr>
              <a:t>Ein Flussdiagramm ist eine Form der Darstellung von einem Prozess. </a:t>
            </a:r>
            <a:br>
              <a:rPr lang="de-AT" sz="2000" dirty="0">
                <a:latin typeface="Times New Roman"/>
                <a:cs typeface="Calibri"/>
              </a:rPr>
            </a:br>
            <a:r>
              <a:rPr lang="de-AT" sz="2000" dirty="0">
                <a:latin typeface="Times New Roman"/>
                <a:cs typeface="Calibri"/>
              </a:rPr>
              <a:t>In einem Flussdiagramm werden einzelne Prozesse so dargestellt</a:t>
            </a:r>
            <a:br>
              <a:rPr lang="de-AT" sz="2000" dirty="0">
                <a:latin typeface="Times New Roman"/>
                <a:cs typeface="Calibri"/>
              </a:rPr>
            </a:br>
            <a:r>
              <a:rPr lang="de-AT" sz="2000" dirty="0">
                <a:latin typeface="Times New Roman"/>
                <a:cs typeface="Calibri"/>
              </a:rPr>
              <a:t>das Betrachter einen schnellen Überblick bekommen.</a:t>
            </a:r>
            <a:endParaRPr lang="de-AT" sz="2000" dirty="0">
              <a:latin typeface="Times New Roman"/>
              <a:ea typeface="+mn-lt"/>
              <a:cs typeface="+mn-lt"/>
            </a:endParaRPr>
          </a:p>
          <a:p>
            <a:r>
              <a:rPr lang="de-AT" sz="2000" dirty="0">
                <a:latin typeface="Times New Roman"/>
                <a:ea typeface="+mn-lt"/>
                <a:cs typeface="+mn-lt"/>
              </a:rPr>
              <a:t>Jedes Diagramm beginnt mit einem Input und endet mit einem Output.</a:t>
            </a:r>
            <a:br>
              <a:rPr lang="de-AT" sz="2000" dirty="0">
                <a:latin typeface="Times New Roman"/>
                <a:ea typeface="+mn-lt"/>
                <a:cs typeface="+mn-lt"/>
              </a:rPr>
            </a:br>
            <a:r>
              <a:rPr lang="de-AT" sz="2000" dirty="0">
                <a:latin typeface="Times New Roman"/>
                <a:ea typeface="+mn-lt"/>
                <a:cs typeface="+mn-lt"/>
              </a:rPr>
              <a:t>Dazwischen liegen verschiedene Prozessschritte, welche durch</a:t>
            </a:r>
            <a:br>
              <a:rPr lang="de-AT" sz="2000" dirty="0">
                <a:latin typeface="Times New Roman"/>
                <a:ea typeface="+mn-lt"/>
                <a:cs typeface="+mn-lt"/>
              </a:rPr>
            </a:br>
            <a:r>
              <a:rPr lang="de-AT" sz="2000" dirty="0">
                <a:latin typeface="Times New Roman"/>
                <a:ea typeface="+mn-lt"/>
                <a:cs typeface="+mn-lt"/>
              </a:rPr>
              <a:t>Bedingungen verknüpft sein können.</a:t>
            </a:r>
            <a:endParaRPr lang="de-AT" sz="2000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694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E16-9807-02E1-6A8B-EF4B1EB5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AT" sz="3600" dirty="0">
                <a:latin typeface="Times New Roman"/>
                <a:cs typeface="Times New Roman"/>
              </a:rPr>
              <a:t>Symbole</a:t>
            </a:r>
            <a:r>
              <a:rPr lang="de-AT" sz="3600" kern="1200" dirty="0">
                <a:latin typeface="Times New Roman"/>
                <a:cs typeface="Times New Roman"/>
              </a:rPr>
              <a:t> eines Flussdiagramms: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01F3FA-8FB8-4FDF-A2CE-EF3D5FCA542A}"/>
              </a:ext>
            </a:extLst>
          </p:cNvPr>
          <p:cNvSpPr/>
          <p:nvPr/>
        </p:nvSpPr>
        <p:spPr>
          <a:xfrm>
            <a:off x="395111" y="1693332"/>
            <a:ext cx="1514592" cy="5738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020DA9-40CF-097A-1FA7-8B52BB549DC8}"/>
              </a:ext>
            </a:extLst>
          </p:cNvPr>
          <p:cNvSpPr txBox="1"/>
          <p:nvPr/>
        </p:nvSpPr>
        <p:spPr>
          <a:xfrm>
            <a:off x="2257777" y="1693333"/>
            <a:ext cx="483540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AT" sz="1600" dirty="0">
                <a:latin typeface="Times New Roman"/>
                <a:cs typeface="Calibri"/>
              </a:rPr>
              <a:t>Das abgerundete Rechteck kennzeichnet jeweils den Start und das Ende des Flussdiagramms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2C11CB-EF03-600D-960F-59A80127FCA6}"/>
              </a:ext>
            </a:extLst>
          </p:cNvPr>
          <p:cNvCxnSpPr/>
          <p:nvPr/>
        </p:nvCxnSpPr>
        <p:spPr>
          <a:xfrm>
            <a:off x="494712" y="2870083"/>
            <a:ext cx="1318918" cy="1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A3419B9-F591-F040-4ECA-DB5D4A6F6E5C}"/>
              </a:ext>
            </a:extLst>
          </p:cNvPr>
          <p:cNvSpPr txBox="1"/>
          <p:nvPr/>
        </p:nvSpPr>
        <p:spPr>
          <a:xfrm>
            <a:off x="2285999" y="2577629"/>
            <a:ext cx="480718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AT" sz="1600" dirty="0">
                <a:latin typeface="Times New Roman"/>
                <a:cs typeface="Calibri"/>
              </a:rPr>
              <a:t>Der Pfeil verbindet jeweils die einzelnen Symbole und Prozesse mit einander nach Reihenfolge</a:t>
            </a:r>
            <a:endParaRPr lang="de-AT" sz="1600">
              <a:latin typeface="Times New Roman"/>
              <a:cs typeface="Times New Roman"/>
            </a:endParaRP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801CDB94-DE99-F7E2-CF4A-4324B8239190}"/>
              </a:ext>
            </a:extLst>
          </p:cNvPr>
          <p:cNvSpPr/>
          <p:nvPr/>
        </p:nvSpPr>
        <p:spPr>
          <a:xfrm>
            <a:off x="310444" y="3471333"/>
            <a:ext cx="1683925" cy="611481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9B409A-2CD0-2EA1-B7AD-AFBDA2C2DC46}"/>
              </a:ext>
            </a:extLst>
          </p:cNvPr>
          <p:cNvSpPr txBox="1"/>
          <p:nvPr/>
        </p:nvSpPr>
        <p:spPr>
          <a:xfrm>
            <a:off x="2333037" y="3612443"/>
            <a:ext cx="502355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AT" sz="1600" dirty="0">
                <a:latin typeface="Times New Roman"/>
                <a:cs typeface="Calibri"/>
              </a:rPr>
              <a:t>Ein Parallelogramm symbolisiert die Eingabe und Ausgabe von Informationen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667C7C58-3D30-D92F-1CB1-E61FDDA7F3A6}"/>
              </a:ext>
            </a:extLst>
          </p:cNvPr>
          <p:cNvSpPr/>
          <p:nvPr/>
        </p:nvSpPr>
        <p:spPr>
          <a:xfrm>
            <a:off x="395111" y="4637850"/>
            <a:ext cx="1486370" cy="61148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D0236E-C5F2-78CE-A647-52E154619660}"/>
              </a:ext>
            </a:extLst>
          </p:cNvPr>
          <p:cNvSpPr txBox="1"/>
          <p:nvPr/>
        </p:nvSpPr>
        <p:spPr>
          <a:xfrm>
            <a:off x="2333036" y="4666073"/>
            <a:ext cx="50235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AT" sz="1600" dirty="0">
                <a:latin typeface="Times New Roman"/>
                <a:cs typeface="Calibri"/>
              </a:rPr>
              <a:t>Das Rechteck symbolisiert den jeweiligen Prozess</a:t>
            </a:r>
            <a:endParaRPr lang="de-AT" sz="1600">
              <a:latin typeface="Times New Roman"/>
              <a:cs typeface="Times New Roman"/>
            </a:endParaRPr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A5688264-BF7A-F222-7B96-700803CEA154}"/>
              </a:ext>
            </a:extLst>
          </p:cNvPr>
          <p:cNvSpPr/>
          <p:nvPr/>
        </p:nvSpPr>
        <p:spPr>
          <a:xfrm>
            <a:off x="555037" y="5804370"/>
            <a:ext cx="1166518" cy="83725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5303FF-89DC-67C6-D9B1-913A6E7A8498}"/>
              </a:ext>
            </a:extLst>
          </p:cNvPr>
          <p:cNvSpPr txBox="1"/>
          <p:nvPr/>
        </p:nvSpPr>
        <p:spPr>
          <a:xfrm>
            <a:off x="2361258" y="5832592"/>
            <a:ext cx="495770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AT" sz="1600" dirty="0">
                <a:latin typeface="Times New Roman"/>
                <a:cs typeface="Calibri"/>
              </a:rPr>
              <a:t>Die Raute kennzeichnet die jeweilige Bedingung</a:t>
            </a:r>
            <a:endParaRPr lang="de-AT" sz="1600" dirty="0" err="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552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032FFC-4A36-94CF-33BD-1020D0FFC0CD}"/>
              </a:ext>
            </a:extLst>
          </p:cNvPr>
          <p:cNvSpPr/>
          <p:nvPr/>
        </p:nvSpPr>
        <p:spPr>
          <a:xfrm>
            <a:off x="2681110" y="197555"/>
            <a:ext cx="1514592" cy="5738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dirty="0">
                <a:cs typeface="Calibri"/>
              </a:rPr>
              <a:t>Start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16FE0BA-5AB5-7572-57F8-E2D083DC74F3}"/>
              </a:ext>
            </a:extLst>
          </p:cNvPr>
          <p:cNvSpPr/>
          <p:nvPr/>
        </p:nvSpPr>
        <p:spPr>
          <a:xfrm>
            <a:off x="2822222" y="2069627"/>
            <a:ext cx="1486370" cy="61148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dirty="0">
                <a:cs typeface="Calibri"/>
              </a:rPr>
              <a:t>Nummer wählen</a:t>
            </a:r>
            <a:endParaRPr lang="de-AT" dirty="0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66E10F92-7D93-A0AC-A0B4-C8C7827A5118}"/>
              </a:ext>
            </a:extLst>
          </p:cNvPr>
          <p:cNvSpPr/>
          <p:nvPr/>
        </p:nvSpPr>
        <p:spPr>
          <a:xfrm>
            <a:off x="2711215" y="1168399"/>
            <a:ext cx="1486370" cy="61148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dirty="0">
                <a:cs typeface="Calibri"/>
              </a:rPr>
              <a:t>Hörer abnehmen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9E17A5-B4D8-811E-9E87-2C4011D58D52}"/>
              </a:ext>
            </a:extLst>
          </p:cNvPr>
          <p:cNvCxnSpPr/>
          <p:nvPr/>
        </p:nvCxnSpPr>
        <p:spPr>
          <a:xfrm>
            <a:off x="3505082" y="1712972"/>
            <a:ext cx="11289" cy="359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2037B7-823E-70D2-8932-78BA83A0DD86}"/>
              </a:ext>
            </a:extLst>
          </p:cNvPr>
          <p:cNvCxnSpPr/>
          <p:nvPr/>
        </p:nvCxnSpPr>
        <p:spPr>
          <a:xfrm>
            <a:off x="3488147" y="774113"/>
            <a:ext cx="1881" cy="39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17852469-C81B-6C0F-C43F-245C52527894}"/>
              </a:ext>
            </a:extLst>
          </p:cNvPr>
          <p:cNvSpPr/>
          <p:nvPr/>
        </p:nvSpPr>
        <p:spPr>
          <a:xfrm>
            <a:off x="2474148" y="3010371"/>
            <a:ext cx="2238960" cy="91251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sz="1400" dirty="0">
                <a:cs typeface="Calibri"/>
              </a:rPr>
              <a:t>Meldet sich der Teilnehmer?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C2BDC9-F16D-3D55-0625-79EA7C533FDE}"/>
              </a:ext>
            </a:extLst>
          </p:cNvPr>
          <p:cNvCxnSpPr>
            <a:cxnSpLocks/>
          </p:cNvCxnSpPr>
          <p:nvPr/>
        </p:nvCxnSpPr>
        <p:spPr>
          <a:xfrm flipH="1">
            <a:off x="3557633" y="2683705"/>
            <a:ext cx="5662" cy="329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DEA6FDFB-94EE-54D1-AD2F-39B729420353}"/>
              </a:ext>
            </a:extLst>
          </p:cNvPr>
          <p:cNvSpPr/>
          <p:nvPr/>
        </p:nvSpPr>
        <p:spPr>
          <a:xfrm>
            <a:off x="5136444" y="3160887"/>
            <a:ext cx="1486370" cy="61148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dirty="0">
                <a:cs typeface="Calibri"/>
              </a:rPr>
              <a:t>Hörer auflegen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3F9213-25CB-8F6A-F4CA-D965B95F6A10}"/>
              </a:ext>
            </a:extLst>
          </p:cNvPr>
          <p:cNvCxnSpPr>
            <a:cxnSpLocks/>
          </p:cNvCxnSpPr>
          <p:nvPr/>
        </p:nvCxnSpPr>
        <p:spPr>
          <a:xfrm flipV="1">
            <a:off x="4671599" y="3455224"/>
            <a:ext cx="462845" cy="16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1E4FCF39-9E3C-5FD1-91FB-81A5F537D1F0}"/>
              </a:ext>
            </a:extLst>
          </p:cNvPr>
          <p:cNvSpPr/>
          <p:nvPr/>
        </p:nvSpPr>
        <p:spPr>
          <a:xfrm>
            <a:off x="7046148" y="3057408"/>
            <a:ext cx="2238960" cy="91251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sz="1400" dirty="0">
                <a:cs typeface="Calibri"/>
              </a:rPr>
              <a:t>Gespräch verschieben?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60DFC4-84B4-6D6F-583D-05C560E21F75}"/>
              </a:ext>
            </a:extLst>
          </p:cNvPr>
          <p:cNvCxnSpPr>
            <a:cxnSpLocks/>
          </p:cNvCxnSpPr>
          <p:nvPr/>
        </p:nvCxnSpPr>
        <p:spPr>
          <a:xfrm>
            <a:off x="6562490" y="3509786"/>
            <a:ext cx="453436" cy="1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A5C154-A576-B72B-03EE-3B7618CD094E}"/>
              </a:ext>
            </a:extLst>
          </p:cNvPr>
          <p:cNvSpPr/>
          <p:nvPr/>
        </p:nvSpPr>
        <p:spPr>
          <a:xfrm>
            <a:off x="2897481" y="6218295"/>
            <a:ext cx="1514592" cy="5738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dirty="0">
                <a:cs typeface="Calibri"/>
              </a:rPr>
              <a:t>Ende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A4EA29-49E1-F6E9-E090-4D15C032CAA3}"/>
              </a:ext>
            </a:extLst>
          </p:cNvPr>
          <p:cNvCxnSpPr>
            <a:cxnSpLocks/>
          </p:cNvCxnSpPr>
          <p:nvPr/>
        </p:nvCxnSpPr>
        <p:spPr>
          <a:xfrm>
            <a:off x="3561526" y="3923712"/>
            <a:ext cx="1882" cy="415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B661194-8086-F939-4C84-2BF1E3FAACA1}"/>
              </a:ext>
            </a:extLst>
          </p:cNvPr>
          <p:cNvSpPr txBox="1"/>
          <p:nvPr/>
        </p:nvSpPr>
        <p:spPr>
          <a:xfrm>
            <a:off x="3132666" y="3922888"/>
            <a:ext cx="372534" cy="378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Ja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4BDB96-B9C8-EC84-A332-77B9A75DC18D}"/>
              </a:ext>
            </a:extLst>
          </p:cNvPr>
          <p:cNvSpPr txBox="1"/>
          <p:nvPr/>
        </p:nvSpPr>
        <p:spPr>
          <a:xfrm>
            <a:off x="6848592" y="2549407"/>
            <a:ext cx="6547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Nein</a:t>
            </a: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1C6A9491-3D20-5E4B-AC8B-DEB09ABC089E}"/>
              </a:ext>
            </a:extLst>
          </p:cNvPr>
          <p:cNvCxnSpPr/>
          <p:nvPr/>
        </p:nvCxnSpPr>
        <p:spPr>
          <a:xfrm flipH="1" flipV="1">
            <a:off x="3534989" y="922477"/>
            <a:ext cx="4628517" cy="21449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Process 30">
            <a:extLst>
              <a:ext uri="{FF2B5EF4-FFF2-40B4-BE49-F238E27FC236}">
                <a16:creationId xmlns:a16="http://schemas.microsoft.com/office/drawing/2014/main" id="{BC2DD8AE-DF10-4E22-D6DD-E6D5A2EBF1D9}"/>
              </a:ext>
            </a:extLst>
          </p:cNvPr>
          <p:cNvSpPr/>
          <p:nvPr/>
        </p:nvSpPr>
        <p:spPr>
          <a:xfrm>
            <a:off x="2850444" y="4336812"/>
            <a:ext cx="1486370" cy="61148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dirty="0">
                <a:cs typeface="Calibri"/>
              </a:rPr>
              <a:t>Gespräch führen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B9838957-EA3B-B2BF-52BF-1B9AC1799EBB}"/>
              </a:ext>
            </a:extLst>
          </p:cNvPr>
          <p:cNvSpPr/>
          <p:nvPr/>
        </p:nvSpPr>
        <p:spPr>
          <a:xfrm>
            <a:off x="2822222" y="5230515"/>
            <a:ext cx="1486370" cy="61148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AT" dirty="0">
                <a:cs typeface="Calibri"/>
              </a:rPr>
              <a:t>Hörer auflegen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A04359A-962F-4A30-27C2-B8366F7E3A38}"/>
              </a:ext>
            </a:extLst>
          </p:cNvPr>
          <p:cNvCxnSpPr>
            <a:cxnSpLocks/>
          </p:cNvCxnSpPr>
          <p:nvPr/>
        </p:nvCxnSpPr>
        <p:spPr>
          <a:xfrm flipH="1">
            <a:off x="3583899" y="5808828"/>
            <a:ext cx="3801" cy="404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6A1AC6D-4986-D172-FE1B-B4760A00FA96}"/>
              </a:ext>
            </a:extLst>
          </p:cNvPr>
          <p:cNvCxnSpPr>
            <a:cxnSpLocks/>
          </p:cNvCxnSpPr>
          <p:nvPr/>
        </p:nvCxnSpPr>
        <p:spPr>
          <a:xfrm>
            <a:off x="3586115" y="4888949"/>
            <a:ext cx="3745" cy="336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BB2DCC-EF6F-8B8B-E228-394412B5FB05}"/>
              </a:ext>
            </a:extLst>
          </p:cNvPr>
          <p:cNvSpPr txBox="1"/>
          <p:nvPr/>
        </p:nvSpPr>
        <p:spPr>
          <a:xfrm>
            <a:off x="4571999" y="3461926"/>
            <a:ext cx="6547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Nein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0FBB2-F2AD-DCD4-8200-F6EEAE805075}"/>
              </a:ext>
            </a:extLst>
          </p:cNvPr>
          <p:cNvSpPr txBox="1"/>
          <p:nvPr/>
        </p:nvSpPr>
        <p:spPr>
          <a:xfrm>
            <a:off x="7808148" y="3951111"/>
            <a:ext cx="447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Ja</a:t>
            </a:r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D3F43C06-8605-B01A-709C-215086391BD3}"/>
              </a:ext>
            </a:extLst>
          </p:cNvPr>
          <p:cNvCxnSpPr>
            <a:cxnSpLocks/>
          </p:cNvCxnSpPr>
          <p:nvPr/>
        </p:nvCxnSpPr>
        <p:spPr>
          <a:xfrm flipH="1">
            <a:off x="4470049" y="3974278"/>
            <a:ext cx="3714043" cy="245721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39736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Larissa</vt:lpstr>
      <vt:lpstr>Flussdiagramm</vt:lpstr>
      <vt:lpstr>Was ist ein Flussdiagramm?</vt:lpstr>
      <vt:lpstr>Symbole eines Flussdiagramms: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Fluss</dc:title>
  <dc:creator/>
  <cp:lastModifiedBy/>
  <cp:revision>435</cp:revision>
  <dcterms:created xsi:type="dcterms:W3CDTF">2023-03-20T07:42:24Z</dcterms:created>
  <dcterms:modified xsi:type="dcterms:W3CDTF">2023-03-20T11:40:46Z</dcterms:modified>
</cp:coreProperties>
</file>