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Default Extension="jpg" ContentType="image/jpe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3" r:id="rId8"/>
    <p:sldId id="262" r:id="rId9"/>
    <p:sldId id="265" r:id="rId10"/>
    <p:sldId id="264" r:id="rId11"/>
    <p:sldId id="272" r:id="rId12"/>
    <p:sldId id="268" r:id="rId13"/>
    <p:sldId id="269" r:id="rId14"/>
    <p:sldId id="270" r:id="rId15"/>
    <p:sldId id="271" r:id="rId16"/>
    <p:sldId id="266" r:id="rId17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987" autoAdjust="0"/>
    <p:restoredTop sz="94660"/>
  </p:normalViewPr>
  <p:slideViewPr>
    <p:cSldViewPr snapToGrid="0">
      <p:cViewPr varScale="1">
        <p:scale>
          <a:sx n="60" d="100"/>
          <a:sy n="60" d="100"/>
        </p:scale>
        <p:origin x="72" y="127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elfoli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370693" y="1769540"/>
            <a:ext cx="9440034" cy="1828801"/>
          </a:xfrm>
        </p:spPr>
        <p:txBody>
          <a:bodyPr anchor="b">
            <a:normAutofit/>
          </a:bodyPr>
          <a:lstStyle>
            <a:lvl1pPr algn="ctr">
              <a:defRPr sz="5400"/>
            </a:lvl1pPr>
          </a:lstStyle>
          <a:p>
            <a:r>
              <a:rPr lang="de-DE"/>
              <a:t>Mastertitelformat bearbeiten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0693" y="3598339"/>
            <a:ext cx="9440034" cy="1049867"/>
          </a:xfrm>
        </p:spPr>
        <p:txBody>
          <a:bodyPr anchor="t"/>
          <a:lstStyle>
            <a:lvl1pPr marL="0" indent="0" algn="ctr">
              <a:buNone/>
              <a:defRPr>
                <a:solidFill>
                  <a:schemeClr val="tx1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de-DE"/>
              <a:t>Master-Untertitelformat bearbeiten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D19CFBB-46C7-4185-ADAA-9B780C673927}" type="datetimeFigureOut">
              <a:rPr lang="de-DE" smtClean="0"/>
              <a:t>27.09.2023</a:t>
            </a:fld>
            <a:endParaRPr lang="de-DE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F5DD382-D1DB-42D1-98FE-5AF22004040A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35495384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el und Inha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D19CFBB-46C7-4185-ADAA-9B780C673927}" type="datetimeFigureOut">
              <a:rPr lang="de-DE" smtClean="0"/>
              <a:t>27.09.2023</a:t>
            </a:fld>
            <a:endParaRPr lang="de-DE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F5DD382-D1DB-42D1-98FE-5AF22004040A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63888091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Abschnitts-&#10;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95401" y="1761067"/>
            <a:ext cx="9590550" cy="1828813"/>
          </a:xfrm>
        </p:spPr>
        <p:txBody>
          <a:bodyPr anchor="b"/>
          <a:lstStyle>
            <a:lvl1pPr algn="ctr">
              <a:defRPr sz="4000" b="0" cap="none"/>
            </a:lvl1pPr>
          </a:lstStyle>
          <a:p>
            <a:r>
              <a:rPr lang="de-DE"/>
              <a:t>Mastertitelformat bearbeiten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95401" y="3589879"/>
            <a:ext cx="9590550" cy="1507054"/>
          </a:xfrm>
        </p:spPr>
        <p:txBody>
          <a:bodyPr anchor="t"/>
          <a:lstStyle>
            <a:lvl1pPr marL="0" indent="0" algn="ctr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D19CFBB-46C7-4185-ADAA-9B780C673927}" type="datetimeFigureOut">
              <a:rPr lang="de-DE" smtClean="0"/>
              <a:t>27.09.2023</a:t>
            </a:fld>
            <a:endParaRPr lang="de-DE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F5DD382-D1DB-42D1-98FE-5AF22004040A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12934284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Zwei Inhal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913795" y="1732449"/>
            <a:ext cx="5060497" cy="4058750"/>
          </a:xfrm>
        </p:spPr>
        <p:txBody>
          <a:bodyPr anchor="t">
            <a:normAutofit/>
          </a:bodyPr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02892" y="1732449"/>
            <a:ext cx="5064665" cy="4058751"/>
          </a:xfrm>
        </p:spPr>
        <p:txBody>
          <a:bodyPr anchor="t">
            <a:normAutofit/>
          </a:bodyPr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D19CFBB-46C7-4185-ADAA-9B780C673927}" type="datetimeFigureOut">
              <a:rPr lang="de-DE" smtClean="0"/>
              <a:t>27.09.2023</a:t>
            </a:fld>
            <a:endParaRPr lang="de-DE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F5DD382-D1DB-42D1-98FE-5AF22004040A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42779500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Vergleich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" name="Picture 19" descr="Slate-V2-HD-compPhotoInset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13795" y="1734506"/>
            <a:ext cx="5089072" cy="4148769"/>
          </a:xfrm>
          <a:prstGeom prst="rect">
            <a:avLst/>
          </a:prstGeom>
        </p:spPr>
      </p:pic>
      <p:pic>
        <p:nvPicPr>
          <p:cNvPr id="21" name="Picture 20" descr="Slate-V2-HD-compPhotoInset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178485" y="1734506"/>
            <a:ext cx="5089072" cy="4148769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de-DE"/>
              <a:t>Mastertitelformat bearbeiten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05872" y="1835254"/>
            <a:ext cx="4876344" cy="544884"/>
          </a:xfrm>
        </p:spPr>
        <p:txBody>
          <a:bodyPr anchor="b">
            <a:noAutofit/>
          </a:bodyPr>
          <a:lstStyle>
            <a:lvl1pPr marL="0" indent="0" algn="ctr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005872" y="2380137"/>
            <a:ext cx="4876344" cy="3411063"/>
          </a:xfrm>
        </p:spPr>
        <p:txBody>
          <a:bodyPr anchor="t"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</a:lstStyle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294967" y="1835254"/>
            <a:ext cx="4895330" cy="544883"/>
          </a:xfrm>
        </p:spPr>
        <p:txBody>
          <a:bodyPr anchor="b">
            <a:noAutofit/>
          </a:bodyPr>
          <a:lstStyle>
            <a:lvl1pPr marL="0" indent="0" algn="ctr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294967" y="2380137"/>
            <a:ext cx="4895330" cy="3411063"/>
          </a:xfrm>
        </p:spPr>
        <p:txBody>
          <a:bodyPr anchor="t"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</a:lstStyle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D19CFBB-46C7-4185-ADAA-9B780C673927}" type="datetimeFigureOut">
              <a:rPr lang="de-DE" smtClean="0"/>
              <a:t>27.09.2023</a:t>
            </a:fld>
            <a:endParaRPr lang="de-DE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F5DD382-D1DB-42D1-98FE-5AF22004040A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89960332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Nur Tite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D19CFBB-46C7-4185-ADAA-9B780C673927}" type="datetimeFigureOut">
              <a:rPr lang="de-DE" smtClean="0"/>
              <a:t>27.09.2023</a:t>
            </a:fld>
            <a:endParaRPr lang="de-DE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F5DD382-D1DB-42D1-98FE-5AF22004040A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46587190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Le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D19CFBB-46C7-4185-ADAA-9B780C673927}" type="datetimeFigureOut">
              <a:rPr lang="de-DE" smtClean="0"/>
              <a:t>27.09.2023</a:t>
            </a:fld>
            <a:endParaRPr lang="de-DE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F5DD382-D1DB-42D1-98FE-5AF22004040A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57826719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Inhalt mit 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795" y="609600"/>
            <a:ext cx="3706889" cy="1821918"/>
          </a:xfrm>
        </p:spPr>
        <p:txBody>
          <a:bodyPr anchor="b">
            <a:normAutofit/>
          </a:bodyPr>
          <a:lstStyle>
            <a:lvl1pPr algn="ctr">
              <a:defRPr sz="2400" b="0"/>
            </a:lvl1pPr>
          </a:lstStyle>
          <a:p>
            <a:r>
              <a:rPr lang="de-DE"/>
              <a:t>Mastertitelformat bearbeiten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855633" y="609600"/>
            <a:ext cx="6411924" cy="5181600"/>
          </a:xfrm>
        </p:spPr>
        <p:txBody>
          <a:bodyPr>
            <a:normAutofit/>
          </a:bodyPr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3795" y="2431518"/>
            <a:ext cx="3706889" cy="3359681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D19CFBB-46C7-4185-ADAA-9B780C673927}" type="datetimeFigureOut">
              <a:rPr lang="de-DE" smtClean="0"/>
              <a:t>27.09.2023</a:t>
            </a:fld>
            <a:endParaRPr lang="de-DE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F5DD382-D1DB-42D1-98FE-5AF22004040A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44291956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Bild mit 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2" name="Picture 21" descr="Slate-V2-HD-vertPhotoInset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293665" y="609600"/>
            <a:ext cx="3584166" cy="5204832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795" y="609923"/>
            <a:ext cx="5934949" cy="1829338"/>
          </a:xfrm>
        </p:spPr>
        <p:txBody>
          <a:bodyPr anchor="b">
            <a:noAutofit/>
          </a:bodyPr>
          <a:lstStyle>
            <a:lvl1pPr algn="ctr">
              <a:defRPr sz="3200" b="0"/>
            </a:lvl1pPr>
          </a:lstStyle>
          <a:p>
            <a:r>
              <a:rPr lang="de-DE"/>
              <a:t>Mastertitelformat bearbeiten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7442551" y="763702"/>
            <a:ext cx="3275751" cy="4912822"/>
          </a:xfrm>
          <a:effectLst>
            <a:outerShdw blurRad="38100" dist="25400" dir="4440000">
              <a:srgbClr val="000000">
                <a:alpha val="36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de-DE"/>
              <a:t>Bild durch Klicken auf Symbol hinzufügen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3795" y="2439261"/>
            <a:ext cx="5934949" cy="3376134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D19CFBB-46C7-4185-ADAA-9B780C673927}" type="datetimeFigureOut">
              <a:rPr lang="de-DE" smtClean="0"/>
              <a:t>27.09.2023</a:t>
            </a:fld>
            <a:endParaRPr lang="de-DE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F5DD382-D1DB-42D1-98FE-5AF22004040A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50969408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abild mit Beschriftung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Picture 15" descr="Slate-V2-HD-panoPhotoInset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13883" y="547807"/>
            <a:ext cx="10141799" cy="3816806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806" y="4565255"/>
            <a:ext cx="10355326" cy="543472"/>
          </a:xfrm>
        </p:spPr>
        <p:txBody>
          <a:bodyPr anchor="b">
            <a:normAutofit/>
          </a:bodyPr>
          <a:lstStyle>
            <a:lvl1pPr algn="ctr">
              <a:defRPr sz="2800"/>
            </a:lvl1pPr>
          </a:lstStyle>
          <a:p>
            <a:r>
              <a:rPr lang="de-DE"/>
              <a:t>Mastertitelformat bearbeiten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169349" y="695009"/>
            <a:ext cx="9845346" cy="3525671"/>
          </a:xfrm>
          <a:effectLst>
            <a:outerShdw blurRad="38100" dist="25400" dir="4440000">
              <a:srgbClr val="000000">
                <a:alpha val="36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2000"/>
            </a:lvl1pPr>
            <a:lvl2pPr marL="457200" indent="0">
              <a:buNone/>
              <a:defRPr sz="2000"/>
            </a:lvl2pPr>
            <a:lvl3pPr marL="914400" indent="0">
              <a:buNone/>
              <a:defRPr sz="20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de-DE"/>
              <a:t>Bild durch Klicken auf Symbol hinzufügen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3795" y="5108728"/>
            <a:ext cx="10353762" cy="682472"/>
          </a:xfrm>
        </p:spPr>
        <p:txBody>
          <a:bodyPr anchor="t"/>
          <a:lstStyle>
            <a:lvl1pPr marL="0" indent="0" algn="ctr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D19CFBB-46C7-4185-ADAA-9B780C673927}" type="datetimeFigureOut">
              <a:rPr lang="de-DE" smtClean="0"/>
              <a:t>27.09.2023</a:t>
            </a:fld>
            <a:endParaRPr lang="de-DE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F5DD382-D1DB-42D1-98FE-5AF22004040A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27121507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el und Beschriftung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795" y="608437"/>
            <a:ext cx="10353762" cy="3534344"/>
          </a:xfrm>
        </p:spPr>
        <p:txBody>
          <a:bodyPr anchor="ctr"/>
          <a:lstStyle>
            <a:lvl1pPr>
              <a:defRPr sz="3200"/>
            </a:lvl1pPr>
          </a:lstStyle>
          <a:p>
            <a:r>
              <a:rPr lang="de-DE"/>
              <a:t>Mastertitelformat bearbeiten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3794" y="4295180"/>
            <a:ext cx="10353763" cy="1501826"/>
          </a:xfrm>
        </p:spPr>
        <p:txBody>
          <a:bodyPr anchor="ctr"/>
          <a:lstStyle>
            <a:lvl1pPr marL="0" indent="0" algn="ctr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D19CFBB-46C7-4185-ADAA-9B780C673927}" type="datetimeFigureOut">
              <a:rPr lang="de-DE" smtClean="0"/>
              <a:t>27.09.2023</a:t>
            </a:fld>
            <a:endParaRPr lang="de-DE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F5DD382-D1DB-42D1-98FE-5AF22004040A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67809954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Zitat mit Beschriftung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6212" y="609600"/>
            <a:ext cx="9302752" cy="2992904"/>
          </a:xfrm>
        </p:spPr>
        <p:txBody>
          <a:bodyPr anchor="ctr"/>
          <a:lstStyle>
            <a:lvl1pPr>
              <a:defRPr sz="3200"/>
            </a:lvl1pPr>
          </a:lstStyle>
          <a:p>
            <a:r>
              <a:rPr lang="de-DE"/>
              <a:t>Mastertitelformat bearbeiten</a:t>
            </a:r>
            <a:endParaRPr lang="en-US" dirty="0"/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3"/>
          </p:nvPr>
        </p:nvSpPr>
        <p:spPr>
          <a:xfrm>
            <a:off x="1720644" y="3610032"/>
            <a:ext cx="8752299" cy="532749"/>
          </a:xfrm>
        </p:spPr>
        <p:txBody>
          <a:bodyPr anchor="t">
            <a:normAutofit/>
          </a:bodyPr>
          <a:lstStyle>
            <a:lvl1pPr marL="0" indent="0" algn="r">
              <a:buNone/>
              <a:defRPr sz="14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3794" y="4304353"/>
            <a:ext cx="10353763" cy="1489496"/>
          </a:xfrm>
        </p:spPr>
        <p:txBody>
          <a:bodyPr anchor="ctr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D19CFBB-46C7-4185-ADAA-9B780C673927}" type="datetimeFigureOut">
              <a:rPr lang="de-DE" smtClean="0"/>
              <a:t>27.09.2023</a:t>
            </a:fld>
            <a:endParaRPr lang="de-DE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F5DD382-D1DB-42D1-98FE-5AF22004040A}" type="slidenum">
              <a:rPr lang="de-DE" smtClean="0"/>
              <a:t>‹Nr.›</a:t>
            </a:fld>
            <a:endParaRPr lang="de-DE"/>
          </a:p>
        </p:txBody>
      </p:sp>
      <p:sp>
        <p:nvSpPr>
          <p:cNvPr id="11" name="TextBox 10"/>
          <p:cNvSpPr txBox="1"/>
          <p:nvPr/>
        </p:nvSpPr>
        <p:spPr>
          <a:xfrm>
            <a:off x="990600" y="88479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504716" y="2928258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2048881362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nskar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794" y="2126942"/>
            <a:ext cx="10353763" cy="2511835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de-DE"/>
              <a:t>Mastertitelformat bearbeiten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3784" y="4650556"/>
            <a:ext cx="10352199" cy="1140644"/>
          </a:xfrm>
        </p:spPr>
        <p:txBody>
          <a:bodyPr anchor="t"/>
          <a:lstStyle>
            <a:lvl1pPr marL="0" indent="0" algn="ctr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D19CFBB-46C7-4185-ADAA-9B780C673927}" type="datetimeFigureOut">
              <a:rPr lang="de-DE" smtClean="0"/>
              <a:t>27.09.2023</a:t>
            </a:fld>
            <a:endParaRPr lang="de-DE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F5DD382-D1DB-42D1-98FE-5AF22004040A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4110408303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Spal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itle 1"/>
          <p:cNvSpPr>
            <a:spLocks noGrp="1"/>
          </p:cNvSpPr>
          <p:nvPr>
            <p:ph type="title"/>
          </p:nvPr>
        </p:nvSpPr>
        <p:spPr>
          <a:xfrm>
            <a:off x="913795" y="609600"/>
            <a:ext cx="10353762" cy="970450"/>
          </a:xfrm>
        </p:spPr>
        <p:txBody>
          <a:bodyPr/>
          <a:lstStyle/>
          <a:p>
            <a:r>
              <a:rPr lang="de-DE"/>
              <a:t>Mastertitelformat bearbeiten</a:t>
            </a:r>
            <a:endParaRPr lang="en-US" dirty="0"/>
          </a:p>
        </p:txBody>
      </p:sp>
      <p:sp>
        <p:nvSpPr>
          <p:cNvPr id="7" name="Text Placeholder 2"/>
          <p:cNvSpPr>
            <a:spLocks noGrp="1"/>
          </p:cNvSpPr>
          <p:nvPr>
            <p:ph type="body" idx="1"/>
          </p:nvPr>
        </p:nvSpPr>
        <p:spPr>
          <a:xfrm>
            <a:off x="913795" y="1885950"/>
            <a:ext cx="3300984" cy="576262"/>
          </a:xfrm>
        </p:spPr>
        <p:txBody>
          <a:bodyPr anchor="b">
            <a:noAutofit/>
          </a:bodyPr>
          <a:lstStyle>
            <a:lvl1pPr marL="0" indent="0" algn="ctr"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8" name="Text Placeholder 3"/>
          <p:cNvSpPr>
            <a:spLocks noGrp="1"/>
          </p:cNvSpPr>
          <p:nvPr>
            <p:ph type="body" sz="half" idx="15"/>
          </p:nvPr>
        </p:nvSpPr>
        <p:spPr>
          <a:xfrm>
            <a:off x="913795" y="2571750"/>
            <a:ext cx="3300984" cy="3219450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9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446711" y="1885950"/>
            <a:ext cx="3300984" cy="576262"/>
          </a:xfrm>
        </p:spPr>
        <p:txBody>
          <a:bodyPr anchor="b">
            <a:noAutofit/>
          </a:bodyPr>
          <a:lstStyle>
            <a:lvl1pPr marL="0" indent="0" algn="ctr"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10" name="Text Placeholder 3"/>
          <p:cNvSpPr>
            <a:spLocks noGrp="1"/>
          </p:cNvSpPr>
          <p:nvPr>
            <p:ph type="body" sz="half" idx="16"/>
          </p:nvPr>
        </p:nvSpPr>
        <p:spPr>
          <a:xfrm>
            <a:off x="4441435" y="2571750"/>
            <a:ext cx="3300984" cy="3219450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11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966572" y="1885950"/>
            <a:ext cx="3300984" cy="576262"/>
          </a:xfrm>
        </p:spPr>
        <p:txBody>
          <a:bodyPr anchor="b">
            <a:noAutofit/>
          </a:bodyPr>
          <a:lstStyle>
            <a:lvl1pPr marL="0" indent="0" algn="ctr"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7"/>
          </p:nvPr>
        </p:nvSpPr>
        <p:spPr>
          <a:xfrm>
            <a:off x="7966572" y="2571750"/>
            <a:ext cx="3300984" cy="3219450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D19CFBB-46C7-4185-ADAA-9B780C673927}" type="datetimeFigureOut">
              <a:rPr lang="de-DE" smtClean="0"/>
              <a:t>27.09.2023</a:t>
            </a:fld>
            <a:endParaRPr lang="de-DE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F5DD382-D1DB-42D1-98FE-5AF22004040A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545501384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Bildspal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Slate-V2-HD-3colPhotoInset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97962" y="1818214"/>
            <a:ext cx="3339972" cy="1847851"/>
          </a:xfrm>
          <a:prstGeom prst="rect">
            <a:avLst/>
          </a:prstGeom>
        </p:spPr>
      </p:pic>
      <p:pic>
        <p:nvPicPr>
          <p:cNvPr id="36" name="Picture 35" descr="Slate-V2-HD-3colPhotoInset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403800" y="1818214"/>
            <a:ext cx="3339972" cy="1847851"/>
          </a:xfrm>
          <a:prstGeom prst="rect">
            <a:avLst/>
          </a:prstGeom>
        </p:spPr>
      </p:pic>
      <p:pic>
        <p:nvPicPr>
          <p:cNvPr id="37" name="Picture 36" descr="Slate-V2-HD-3colPhotoInset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936051" y="1818214"/>
            <a:ext cx="3339972" cy="1847851"/>
          </a:xfrm>
          <a:prstGeom prst="rect">
            <a:avLst/>
          </a:prstGeom>
        </p:spPr>
      </p:pic>
      <p:sp>
        <p:nvSpPr>
          <p:cNvPr id="30" name="Title 1"/>
          <p:cNvSpPr>
            <a:spLocks noGrp="1"/>
          </p:cNvSpPr>
          <p:nvPr>
            <p:ph type="title"/>
          </p:nvPr>
        </p:nvSpPr>
        <p:spPr>
          <a:xfrm>
            <a:off x="913794" y="609600"/>
            <a:ext cx="10353763" cy="970450"/>
          </a:xfrm>
        </p:spPr>
        <p:txBody>
          <a:bodyPr/>
          <a:lstStyle/>
          <a:p>
            <a:r>
              <a:rPr lang="de-DE"/>
              <a:t>Mastertitelformat bearbeiten</a:t>
            </a:r>
            <a:endParaRPr lang="en-US" dirty="0"/>
          </a:p>
        </p:txBody>
      </p:sp>
      <p:sp>
        <p:nvSpPr>
          <p:cNvPr id="19" name="Text Placeholder 2"/>
          <p:cNvSpPr>
            <a:spLocks noGrp="1"/>
          </p:cNvSpPr>
          <p:nvPr>
            <p:ph type="body" idx="1"/>
          </p:nvPr>
        </p:nvSpPr>
        <p:spPr>
          <a:xfrm>
            <a:off x="913795" y="3904106"/>
            <a:ext cx="3300984" cy="576262"/>
          </a:xfrm>
        </p:spPr>
        <p:txBody>
          <a:bodyPr anchor="b">
            <a:noAutofit/>
          </a:bodyPr>
          <a:lstStyle>
            <a:lvl1pPr marL="0" indent="0" algn="ctr">
              <a:buNone/>
              <a:defRPr sz="20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20" name="Picture Placeholder 2"/>
          <p:cNvSpPr>
            <a:spLocks noGrp="1" noChangeAspect="1"/>
          </p:cNvSpPr>
          <p:nvPr>
            <p:ph type="pic" idx="15"/>
          </p:nvPr>
        </p:nvSpPr>
        <p:spPr>
          <a:xfrm>
            <a:off x="1018102" y="1938918"/>
            <a:ext cx="3092368" cy="1602954"/>
          </a:xfrm>
          <a:prstGeom prst="roundRect">
            <a:avLst>
              <a:gd name="adj" fmla="val 1858"/>
            </a:avLst>
          </a:prstGeom>
          <a:effectLst>
            <a:outerShdw blurRad="38100" dist="25400" dir="4440000">
              <a:srgbClr val="000000">
                <a:alpha val="36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de-DE"/>
              <a:t>Bild durch Klicken auf Symbol hinzufügen</a:t>
            </a:r>
            <a:endParaRPr lang="en-US" dirty="0"/>
          </a:p>
        </p:txBody>
      </p:sp>
      <p:sp>
        <p:nvSpPr>
          <p:cNvPr id="21" name="Text Placeholder 3"/>
          <p:cNvSpPr>
            <a:spLocks noGrp="1"/>
          </p:cNvSpPr>
          <p:nvPr>
            <p:ph type="body" sz="half" idx="18"/>
          </p:nvPr>
        </p:nvSpPr>
        <p:spPr>
          <a:xfrm>
            <a:off x="913795" y="4480368"/>
            <a:ext cx="3300984" cy="1310833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22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442788" y="3904106"/>
            <a:ext cx="3300984" cy="576262"/>
          </a:xfrm>
        </p:spPr>
        <p:txBody>
          <a:bodyPr anchor="b">
            <a:noAutofit/>
          </a:bodyPr>
          <a:lstStyle>
            <a:lvl1pPr marL="0" indent="0" algn="ctr">
              <a:buNone/>
              <a:defRPr sz="20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23" name="Picture Placeholder 2"/>
          <p:cNvSpPr>
            <a:spLocks noGrp="1" noChangeAspect="1"/>
          </p:cNvSpPr>
          <p:nvPr>
            <p:ph type="pic" idx="21"/>
          </p:nvPr>
        </p:nvSpPr>
        <p:spPr>
          <a:xfrm>
            <a:off x="4545743" y="1939094"/>
            <a:ext cx="3092368" cy="1608164"/>
          </a:xfrm>
          <a:prstGeom prst="roundRect">
            <a:avLst>
              <a:gd name="adj" fmla="val 1858"/>
            </a:avLst>
          </a:prstGeom>
          <a:effectLst>
            <a:outerShdw blurRad="38100" dist="25400" dir="4440000">
              <a:srgbClr val="000000">
                <a:alpha val="36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de-DE"/>
              <a:t>Bild durch Klicken auf Symbol hinzufügen</a:t>
            </a:r>
            <a:endParaRPr lang="en-US" dirty="0"/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19"/>
          </p:nvPr>
        </p:nvSpPr>
        <p:spPr>
          <a:xfrm>
            <a:off x="4441435" y="4480367"/>
            <a:ext cx="3300984" cy="1310833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25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966697" y="3904106"/>
            <a:ext cx="3300984" cy="576262"/>
          </a:xfrm>
        </p:spPr>
        <p:txBody>
          <a:bodyPr anchor="b">
            <a:noAutofit/>
          </a:bodyPr>
          <a:lstStyle>
            <a:lvl1pPr marL="0" indent="0" algn="ctr">
              <a:buNone/>
              <a:defRPr sz="20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26" name="Picture Placeholder 2"/>
          <p:cNvSpPr>
            <a:spLocks noGrp="1" noChangeAspect="1"/>
          </p:cNvSpPr>
          <p:nvPr>
            <p:ph type="pic" idx="22"/>
          </p:nvPr>
        </p:nvSpPr>
        <p:spPr>
          <a:xfrm>
            <a:off x="8075698" y="1934432"/>
            <a:ext cx="3092368" cy="1607294"/>
          </a:xfrm>
          <a:prstGeom prst="roundRect">
            <a:avLst>
              <a:gd name="adj" fmla="val 1858"/>
            </a:avLst>
          </a:prstGeom>
          <a:effectLst>
            <a:outerShdw blurRad="38100" dist="25400" dir="4440000">
              <a:srgbClr val="000000">
                <a:alpha val="36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de-DE"/>
              <a:t>Bild durch Klicken auf Symbol hinzufügen</a:t>
            </a:r>
            <a:endParaRPr lang="en-US" dirty="0"/>
          </a:p>
        </p:txBody>
      </p:sp>
      <p:sp>
        <p:nvSpPr>
          <p:cNvPr id="27" name="Text Placeholder 3"/>
          <p:cNvSpPr>
            <a:spLocks noGrp="1"/>
          </p:cNvSpPr>
          <p:nvPr>
            <p:ph type="body" sz="half" idx="20"/>
          </p:nvPr>
        </p:nvSpPr>
        <p:spPr>
          <a:xfrm>
            <a:off x="7966572" y="4480365"/>
            <a:ext cx="3300984" cy="1310835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D19CFBB-46C7-4185-ADAA-9B780C673927}" type="datetimeFigureOut">
              <a:rPr lang="de-DE" smtClean="0"/>
              <a:t>27.09.2023</a:t>
            </a:fld>
            <a:endParaRPr lang="de-DE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F5DD382-D1DB-42D1-98FE-5AF22004040A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665244124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el und vertikaler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D19CFBB-46C7-4185-ADAA-9B780C673927}" type="datetimeFigureOut">
              <a:rPr lang="de-DE" smtClean="0"/>
              <a:t>27.09.2023</a:t>
            </a:fld>
            <a:endParaRPr lang="de-DE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F5DD382-D1DB-42D1-98FE-5AF22004040A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301082526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kaler Titel u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983068" y="609599"/>
            <a:ext cx="2284487" cy="5181601"/>
          </a:xfrm>
        </p:spPr>
        <p:txBody>
          <a:bodyPr vert="eaVert"/>
          <a:lstStyle>
            <a:lvl1pPr algn="l">
              <a:defRPr/>
            </a:lvl1pPr>
          </a:lstStyle>
          <a:p>
            <a:r>
              <a:rPr lang="de-DE"/>
              <a:t>Mastertitelformat bearbeiten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913796" y="609599"/>
            <a:ext cx="7916872" cy="5181601"/>
          </a:xfrm>
        </p:spPr>
        <p:txBody>
          <a:bodyPr vert="eaVert" anchor="t"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D19CFBB-46C7-4185-ADAA-9B780C673927}" type="datetimeFigureOut">
              <a:rPr lang="de-DE" smtClean="0"/>
              <a:t>27.09.2023</a:t>
            </a:fld>
            <a:endParaRPr lang="de-DE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F5DD382-D1DB-42D1-98FE-5AF22004040A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62782110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913795" y="609600"/>
            <a:ext cx="10353762" cy="970450"/>
          </a:xfrm>
          <a:prstGeom prst="rect">
            <a:avLst/>
          </a:prstGeom>
          <a:effectLst>
            <a:outerShdw blurRad="25400" dir="17880000">
              <a:srgbClr val="000000">
                <a:alpha val="46000"/>
              </a:srgbClr>
            </a:outerShdw>
          </a:effectLst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de-DE"/>
              <a:t>Mastertitelformat bearbeiten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13795" y="1732449"/>
            <a:ext cx="10353762" cy="4058751"/>
          </a:xfrm>
          <a:prstGeom prst="rect">
            <a:avLst/>
          </a:prstGeom>
          <a:effectLst>
            <a:outerShdw blurRad="25400" dir="17880000">
              <a:srgbClr val="000000">
                <a:alpha val="46000"/>
              </a:srgbClr>
            </a:outerShdw>
          </a:effectLst>
        </p:spPr>
        <p:txBody>
          <a:bodyPr vert="horz" lIns="91440" tIns="45720" rIns="91440" bIns="45720" rtlCol="0" anchor="t">
            <a:normAutofit/>
          </a:bodyPr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678736" y="5883275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>
                <a:solidFill>
                  <a:schemeClr val="tx1">
                    <a:lumMod val="95000"/>
                  </a:schemeClr>
                </a:solidFill>
                <a:effectLst>
                  <a:outerShdw blurRad="50800" dist="38100" dir="2700000" algn="tl" rotWithShape="0">
                    <a:schemeClr val="bg1">
                      <a:alpha val="43000"/>
                    </a:schemeClr>
                  </a:outerShdw>
                </a:effectLst>
              </a:defRPr>
            </a:lvl1pPr>
          </a:lstStyle>
          <a:p>
            <a:fld id="{2D19CFBB-46C7-4185-ADAA-9B780C673927}" type="datetimeFigureOut">
              <a:rPr lang="de-DE" smtClean="0"/>
              <a:t>27.09.2023</a:t>
            </a:fld>
            <a:endParaRPr lang="de-DE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913795" y="5883275"/>
            <a:ext cx="667286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>
                <a:solidFill>
                  <a:schemeClr val="tx1">
                    <a:lumMod val="95000"/>
                  </a:schemeClr>
                </a:solidFill>
                <a:effectLst>
                  <a:outerShdw blurRad="50800" dist="38100" dir="2700000" algn="tl" rotWithShape="0">
                    <a:schemeClr val="bg1">
                      <a:alpha val="43000"/>
                    </a:schemeClr>
                  </a:outerShdw>
                </a:effectLst>
              </a:defRPr>
            </a:lvl1pPr>
          </a:lstStyle>
          <a:p>
            <a:endParaRPr lang="de-DE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514011" y="5883275"/>
            <a:ext cx="75354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>
                <a:solidFill>
                  <a:schemeClr val="tx1">
                    <a:lumMod val="95000"/>
                  </a:schemeClr>
                </a:solidFill>
                <a:effectLst>
                  <a:outerShdw blurRad="50800" dist="38100" dir="2700000" algn="tl" rotWithShape="0">
                    <a:schemeClr val="bg1">
                      <a:alpha val="43000"/>
                    </a:schemeClr>
                  </a:outerShdw>
                </a:effectLst>
              </a:defRPr>
            </a:lvl1pPr>
          </a:lstStyle>
          <a:p>
            <a:fld id="{7F5DD382-D1DB-42D1-98FE-5AF22004040A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31583645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  <p:sldLayoutId id="2147483674" r:id="rId14"/>
    <p:sldLayoutId id="2147483675" r:id="rId15"/>
    <p:sldLayoutId id="2147483676" r:id="rId16"/>
    <p:sldLayoutId id="2147483677" r:id="rId17"/>
  </p:sldLayoutIdLst>
  <p:txStyles>
    <p:titleStyle>
      <a:lvl1pPr algn="ctr" defTabSz="457200" rtl="0" eaLnBrk="1" latinLnBrk="0" hangingPunct="1">
        <a:spcBef>
          <a:spcPct val="0"/>
        </a:spcBef>
        <a:buNone/>
        <a:defRPr sz="4000" kern="1200">
          <a:ln>
            <a:solidFill>
              <a:schemeClr val="bg1">
                <a:lumMod val="75000"/>
                <a:lumOff val="25000"/>
                <a:alpha val="10000"/>
              </a:schemeClr>
            </a:solidFill>
          </a:ln>
          <a:solidFill>
            <a:schemeClr val="tx2"/>
          </a:solidFill>
          <a:effectLst>
            <a:outerShdw blurRad="9525" dist="25400" dir="14640000" algn="tl" rotWithShape="0">
              <a:schemeClr val="bg1">
                <a:alpha val="30000"/>
              </a:schemeClr>
            </a:outerShdw>
          </a:effectLst>
          <a:latin typeface="+mj-lt"/>
          <a:ea typeface="+mj-ea"/>
          <a:cs typeface="Trebuchet M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06000" algn="l" defTabSz="457200" rtl="0" eaLnBrk="1" latinLnBrk="0" hangingPunct="1">
        <a:spcBef>
          <a:spcPct val="20000"/>
        </a:spcBef>
        <a:spcAft>
          <a:spcPts val="600"/>
        </a:spcAft>
        <a:buClr>
          <a:schemeClr val="tx2"/>
        </a:buClr>
        <a:buSzPct val="70000"/>
        <a:buFont typeface="Wingdings 2" charset="2"/>
        <a:buChar char=""/>
        <a:defRPr sz="2000" kern="1200">
          <a:ln>
            <a:solidFill>
              <a:schemeClr val="bg1">
                <a:lumMod val="75000"/>
                <a:lumOff val="25000"/>
                <a:alpha val="10000"/>
              </a:schemeClr>
            </a:solidFill>
          </a:ln>
          <a:solidFill>
            <a:schemeClr val="tx2"/>
          </a:solidFill>
          <a:effectLst>
            <a:outerShdw blurRad="9525" dist="25400" dir="14640000" algn="tl" rotWithShape="0">
              <a:schemeClr val="bg1">
                <a:alpha val="30000"/>
              </a:schemeClr>
            </a:outerShdw>
          </a:effectLst>
          <a:latin typeface="+mn-lt"/>
          <a:ea typeface="+mn-ea"/>
          <a:cs typeface="+mn-cs"/>
        </a:defRPr>
      </a:lvl1pPr>
      <a:lvl2pPr marL="720000" indent="-270000" algn="l" defTabSz="457200" rtl="0" eaLnBrk="1" latinLnBrk="0" hangingPunct="1">
        <a:spcBef>
          <a:spcPct val="20000"/>
        </a:spcBef>
        <a:spcAft>
          <a:spcPts val="600"/>
        </a:spcAft>
        <a:buClr>
          <a:schemeClr val="tx2"/>
        </a:buClr>
        <a:buSzPct val="70000"/>
        <a:buFont typeface="Wingdings 2" charset="2"/>
        <a:buChar char=""/>
        <a:defRPr sz="1800" kern="1200">
          <a:ln>
            <a:solidFill>
              <a:schemeClr val="bg1">
                <a:lumMod val="75000"/>
                <a:lumOff val="25000"/>
                <a:alpha val="10000"/>
              </a:schemeClr>
            </a:solidFill>
          </a:ln>
          <a:solidFill>
            <a:schemeClr val="tx2"/>
          </a:solidFill>
          <a:effectLst>
            <a:outerShdw blurRad="9525" dist="25400" dir="14640000" algn="tl" rotWithShape="0">
              <a:schemeClr val="bg1">
                <a:alpha val="30000"/>
              </a:schemeClr>
            </a:outerShdw>
          </a:effectLst>
          <a:latin typeface="+mn-lt"/>
          <a:ea typeface="+mn-ea"/>
          <a:cs typeface="+mn-cs"/>
        </a:defRPr>
      </a:lvl2pPr>
      <a:lvl3pPr marL="1026000" indent="-216000" algn="l" defTabSz="457200" rtl="0" eaLnBrk="1" latinLnBrk="0" hangingPunct="1">
        <a:spcBef>
          <a:spcPct val="20000"/>
        </a:spcBef>
        <a:spcAft>
          <a:spcPts val="600"/>
        </a:spcAft>
        <a:buClr>
          <a:schemeClr val="tx2"/>
        </a:buClr>
        <a:buSzPct val="70000"/>
        <a:buFont typeface="Wingdings 2" charset="2"/>
        <a:buChar char=""/>
        <a:defRPr sz="1600" kern="1200">
          <a:ln>
            <a:solidFill>
              <a:schemeClr val="bg1">
                <a:lumMod val="75000"/>
                <a:lumOff val="25000"/>
                <a:alpha val="10000"/>
              </a:schemeClr>
            </a:solidFill>
          </a:ln>
          <a:solidFill>
            <a:schemeClr val="tx2"/>
          </a:solidFill>
          <a:effectLst>
            <a:outerShdw blurRad="9525" dist="25400" dir="14640000" algn="tl" rotWithShape="0">
              <a:schemeClr val="bg1">
                <a:alpha val="30000"/>
              </a:schemeClr>
            </a:outerShdw>
          </a:effectLst>
          <a:latin typeface="+mn-lt"/>
          <a:ea typeface="+mn-ea"/>
          <a:cs typeface="+mn-cs"/>
        </a:defRPr>
      </a:lvl3pPr>
      <a:lvl4pPr marL="1386000" indent="-216000" algn="l" defTabSz="457200" rtl="0" eaLnBrk="1" latinLnBrk="0" hangingPunct="1">
        <a:spcBef>
          <a:spcPct val="20000"/>
        </a:spcBef>
        <a:spcAft>
          <a:spcPts val="600"/>
        </a:spcAft>
        <a:buClr>
          <a:schemeClr val="tx2"/>
        </a:buClr>
        <a:buSzPct val="70000"/>
        <a:buFont typeface="Wingdings 2" charset="2"/>
        <a:buChar char=""/>
        <a:defRPr sz="1400" kern="1200">
          <a:ln>
            <a:solidFill>
              <a:schemeClr val="bg1">
                <a:lumMod val="75000"/>
                <a:lumOff val="25000"/>
                <a:alpha val="10000"/>
              </a:schemeClr>
            </a:solidFill>
          </a:ln>
          <a:solidFill>
            <a:schemeClr val="tx2"/>
          </a:solidFill>
          <a:effectLst>
            <a:outerShdw blurRad="9525" dist="25400" dir="14640000" algn="tl" rotWithShape="0">
              <a:schemeClr val="bg1">
                <a:alpha val="30000"/>
              </a:schemeClr>
            </a:outerShdw>
          </a:effectLst>
          <a:latin typeface="+mn-lt"/>
          <a:ea typeface="+mn-ea"/>
          <a:cs typeface="+mn-cs"/>
        </a:defRPr>
      </a:lvl4pPr>
      <a:lvl5pPr marL="1674000" indent="-216000" algn="l" defTabSz="457200" rtl="0" eaLnBrk="1" latinLnBrk="0" hangingPunct="1">
        <a:spcBef>
          <a:spcPct val="20000"/>
        </a:spcBef>
        <a:spcAft>
          <a:spcPts val="600"/>
        </a:spcAft>
        <a:buClr>
          <a:schemeClr val="tx2"/>
        </a:buClr>
        <a:buSzPct val="70000"/>
        <a:buFont typeface="Wingdings 2" charset="2"/>
        <a:buChar char=""/>
        <a:defRPr sz="1400" kern="1200">
          <a:ln>
            <a:solidFill>
              <a:schemeClr val="bg1">
                <a:lumMod val="75000"/>
                <a:lumOff val="25000"/>
                <a:alpha val="10000"/>
              </a:schemeClr>
            </a:solidFill>
          </a:ln>
          <a:solidFill>
            <a:schemeClr val="tx2"/>
          </a:solidFill>
          <a:effectLst>
            <a:outerShdw blurRad="9525" dist="25400" dir="14640000" algn="tl" rotWithShape="0">
              <a:schemeClr val="bg1">
                <a:alpha val="30000"/>
              </a:schemeClr>
            </a:outerShdw>
          </a:effectLst>
          <a:latin typeface="+mn-lt"/>
          <a:ea typeface="+mn-ea"/>
          <a:cs typeface="+mn-cs"/>
        </a:defRPr>
      </a:lvl5pPr>
      <a:lvl6pPr marL="20146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tx2"/>
        </a:buClr>
        <a:buSzPct val="70000"/>
        <a:buFont typeface="Wingdings 2" charset="2"/>
        <a:buChar char=""/>
        <a:defRPr sz="1400" kern="1200">
          <a:ln>
            <a:solidFill>
              <a:schemeClr val="bg1">
                <a:lumMod val="75000"/>
                <a:lumOff val="25000"/>
                <a:alpha val="10000"/>
              </a:schemeClr>
            </a:solidFill>
          </a:ln>
          <a:solidFill>
            <a:schemeClr val="tx2"/>
          </a:solidFill>
          <a:effectLst>
            <a:outerShdw blurRad="9525" dist="25400" dir="14640000" algn="tl" rotWithShape="0">
              <a:schemeClr val="bg1">
                <a:alpha val="30000"/>
              </a:schemeClr>
            </a:outerShdw>
          </a:effectLst>
          <a:latin typeface="+mn-lt"/>
          <a:ea typeface="+mn-ea"/>
          <a:cs typeface="+mn-cs"/>
        </a:defRPr>
      </a:lvl6pPr>
      <a:lvl7pPr marL="24018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tx2"/>
        </a:buClr>
        <a:buSzPct val="70000"/>
        <a:buFont typeface="Wingdings 2" charset="2"/>
        <a:buChar char=""/>
        <a:defRPr sz="1400" kern="1200">
          <a:ln>
            <a:solidFill>
              <a:schemeClr val="bg1">
                <a:lumMod val="75000"/>
                <a:lumOff val="25000"/>
                <a:alpha val="10000"/>
              </a:schemeClr>
            </a:solidFill>
          </a:ln>
          <a:solidFill>
            <a:schemeClr val="tx2"/>
          </a:solidFill>
          <a:effectLst>
            <a:outerShdw blurRad="9525" dist="25400" dir="14640000" algn="tl" rotWithShape="0">
              <a:schemeClr val="bg1">
                <a:alpha val="30000"/>
              </a:schemeClr>
            </a:outerShdw>
          </a:effectLst>
          <a:latin typeface="+mn-lt"/>
          <a:ea typeface="+mn-ea"/>
          <a:cs typeface="+mn-cs"/>
        </a:defRPr>
      </a:lvl7pPr>
      <a:lvl8pPr marL="2789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tx2"/>
        </a:buClr>
        <a:buSzPct val="70000"/>
        <a:buFont typeface="Wingdings 2" charset="2"/>
        <a:buChar char=""/>
        <a:defRPr sz="1400" kern="1200">
          <a:ln>
            <a:solidFill>
              <a:schemeClr val="bg1">
                <a:lumMod val="75000"/>
                <a:lumOff val="25000"/>
                <a:alpha val="10000"/>
              </a:schemeClr>
            </a:solidFill>
          </a:ln>
          <a:solidFill>
            <a:schemeClr val="tx2"/>
          </a:solidFill>
          <a:effectLst>
            <a:outerShdw blurRad="9525" dist="25400" dir="14640000" algn="tl" rotWithShape="0">
              <a:schemeClr val="bg1">
                <a:alpha val="30000"/>
              </a:schemeClr>
            </a:outerShdw>
          </a:effectLst>
          <a:latin typeface="+mn-lt"/>
          <a:ea typeface="+mn-ea"/>
          <a:cs typeface="+mn-cs"/>
        </a:defRPr>
      </a:lvl8pPr>
      <a:lvl9pPr marL="31062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tx2"/>
        </a:buClr>
        <a:buSzPct val="70000"/>
        <a:buFont typeface="Wingdings 2" charset="2"/>
        <a:buChar char=""/>
        <a:defRPr sz="1400" kern="1200">
          <a:ln>
            <a:solidFill>
              <a:schemeClr val="bg1">
                <a:lumMod val="75000"/>
                <a:lumOff val="25000"/>
                <a:alpha val="10000"/>
              </a:schemeClr>
            </a:solidFill>
          </a:ln>
          <a:solidFill>
            <a:schemeClr val="tx2"/>
          </a:solidFill>
          <a:effectLst>
            <a:outerShdw blurRad="9525" dist="25400" dir="14640000" algn="tl" rotWithShape="0">
              <a:schemeClr val="bg1">
                <a:alpha val="30000"/>
              </a:schemeClr>
            </a:outerShdw>
          </a:effectLst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4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hyperlink" Target="https://webstockreview.net/explore/cats-clipart-icon/" TargetMode="External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Relationship Id="rId5" Type="http://schemas.openxmlformats.org/officeDocument/2006/relationships/hyperlink" Target="https://vectorified.com/cute-puppy-icon" TargetMode="External"/><Relationship Id="rId4" Type="http://schemas.openxmlformats.org/officeDocument/2006/relationships/image" Target="../media/image8.jpg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882CB33C-6EE8-40DB-8A0A-F6734B3E954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370693" y="1769540"/>
            <a:ext cx="9440034" cy="1828801"/>
          </a:xfrm>
        </p:spPr>
        <p:txBody>
          <a:bodyPr/>
          <a:lstStyle/>
          <a:p>
            <a:r>
              <a:rPr lang="de-DE" dirty="0"/>
              <a:t>OOP</a:t>
            </a:r>
          </a:p>
        </p:txBody>
      </p:sp>
      <p:sp>
        <p:nvSpPr>
          <p:cNvPr id="3" name="Untertitel 2">
            <a:extLst>
              <a:ext uri="{FF2B5EF4-FFF2-40B4-BE49-F238E27FC236}">
                <a16:creationId xmlns:a16="http://schemas.microsoft.com/office/drawing/2014/main" id="{A1B5EB96-7B91-49CE-9EBD-F23853C10D1C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de-DE" dirty="0"/>
              <a:t>Taylor Kofler</a:t>
            </a:r>
          </a:p>
        </p:txBody>
      </p:sp>
    </p:spTree>
    <p:extLst>
      <p:ext uri="{BB962C8B-B14F-4D97-AF65-F5344CB8AC3E}">
        <p14:creationId xmlns:p14="http://schemas.microsoft.com/office/powerpoint/2010/main" val="149897042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17FAB0F2-906B-4C12-83C0-219BCEFECAC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/>
              <a:t>Agenda</a:t>
            </a:r>
          </a:p>
        </p:txBody>
      </p:sp>
      <p:sp>
        <p:nvSpPr>
          <p:cNvPr id="4" name="Inhaltsplatzhalter 3">
            <a:extLst>
              <a:ext uri="{FF2B5EF4-FFF2-40B4-BE49-F238E27FC236}">
                <a16:creationId xmlns:a16="http://schemas.microsoft.com/office/drawing/2014/main" id="{28495E87-3F98-4F75-B754-39269535E201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 anchor="ctr"/>
          <a:lstStyle/>
          <a:p>
            <a:pPr algn="ctr"/>
            <a:r>
              <a:rPr lang="de-DE" dirty="0"/>
              <a:t>Was ist OOP?</a:t>
            </a:r>
          </a:p>
          <a:p>
            <a:pPr algn="ctr"/>
            <a:r>
              <a:rPr lang="de-DE" dirty="0"/>
              <a:t>Wozu wird es verwendet?</a:t>
            </a:r>
          </a:p>
          <a:p>
            <a:pPr algn="ctr"/>
            <a:r>
              <a:rPr lang="de-DE" dirty="0"/>
              <a:t>Vorteile?</a:t>
            </a:r>
          </a:p>
          <a:p>
            <a:pPr algn="ctr"/>
            <a:r>
              <a:rPr lang="de-DE" dirty="0"/>
              <a:t>OOP-Sprachen</a:t>
            </a:r>
          </a:p>
          <a:p>
            <a:pPr algn="ctr"/>
            <a:r>
              <a:rPr lang="de-DE" dirty="0"/>
              <a:t>Klassen?</a:t>
            </a:r>
          </a:p>
          <a:p>
            <a:pPr algn="ctr"/>
            <a:r>
              <a:rPr lang="de-DE" dirty="0"/>
              <a:t>Objekt?</a:t>
            </a:r>
          </a:p>
          <a:p>
            <a:pPr algn="ctr"/>
            <a:r>
              <a:rPr lang="de-DE" dirty="0"/>
              <a:t>Attribute?</a:t>
            </a:r>
          </a:p>
          <a:p>
            <a:pPr algn="ctr"/>
            <a:r>
              <a:rPr lang="de-DE" dirty="0"/>
              <a:t>Methoden?</a:t>
            </a:r>
          </a:p>
          <a:p>
            <a:pPr algn="ctr"/>
            <a:r>
              <a:rPr lang="de-DE" dirty="0"/>
              <a:t>4 Säulen von OOP</a:t>
            </a:r>
          </a:p>
        </p:txBody>
      </p:sp>
      <p:pic>
        <p:nvPicPr>
          <p:cNvPr id="7" name="Inhaltsplatzhalter 6">
            <a:extLst>
              <a:ext uri="{FF2B5EF4-FFF2-40B4-BE49-F238E27FC236}">
                <a16:creationId xmlns:a16="http://schemas.microsoft.com/office/drawing/2014/main" id="{B4B06BF6-FB40-497C-BEC6-9F9ED81B4072}"/>
              </a:ext>
            </a:extLst>
          </p:cNvPr>
          <p:cNvPicPr>
            <a:picLocks noGrp="1" noChangeAspect="1"/>
          </p:cNvPicPr>
          <p:nvPr>
            <p:ph sz="half" idx="2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369092">
            <a:off x="6770881" y="1731963"/>
            <a:ext cx="3928676" cy="4059237"/>
          </a:xfrm>
          <a:prstGeom prst="rect">
            <a:avLst/>
          </a:prstGeom>
          <a:ln>
            <a:noFill/>
          </a:ln>
          <a:effectLst>
            <a:softEdge rad="112500"/>
          </a:effectLst>
        </p:spPr>
      </p:pic>
    </p:spTree>
    <p:extLst>
      <p:ext uri="{BB962C8B-B14F-4D97-AF65-F5344CB8AC3E}">
        <p14:creationId xmlns:p14="http://schemas.microsoft.com/office/powerpoint/2010/main" val="96866613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AD976469-A1CE-445E-A24E-98B54FA2828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24443" y="1247224"/>
            <a:ext cx="10353762" cy="970450"/>
          </a:xfrm>
        </p:spPr>
        <p:txBody>
          <a:bodyPr/>
          <a:lstStyle/>
          <a:p>
            <a:r>
              <a:rPr lang="de-DE" dirty="0"/>
              <a:t>Was ist OOP?</a:t>
            </a:r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08A8B475-C76A-4183-AAB7-E26FE09B48A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anchor="ctr"/>
          <a:lstStyle/>
          <a:p>
            <a:pPr algn="ctr"/>
            <a:r>
              <a:rPr lang="de-DE" dirty="0">
                <a:effectLst/>
              </a:rPr>
              <a:t>ist ein Modell der Computerprogrammierung</a:t>
            </a:r>
          </a:p>
          <a:p>
            <a:pPr algn="ctr"/>
            <a:r>
              <a:rPr lang="de-DE" dirty="0">
                <a:effectLst/>
              </a:rPr>
              <a:t>Basiert auf Objekten und nicht auf Funktionen und Logik</a:t>
            </a:r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194434216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F1ECB08E-F169-4C59-A9BE-DF89A7FFBB1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/>
              <a:t>Wozu wird es verwendet?</a:t>
            </a:r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073DD5A6-F3E9-4230-A8B2-2352AE37025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anchor="ctr"/>
          <a:lstStyle/>
          <a:p>
            <a:pPr algn="ctr"/>
            <a:r>
              <a:rPr lang="de-DE" dirty="0"/>
              <a:t>Für komplexe Programme die regelmäßig gewartet werden</a:t>
            </a:r>
          </a:p>
          <a:p>
            <a:pPr algn="ctr"/>
            <a:r>
              <a:rPr lang="de-DE" dirty="0">
                <a:effectLst/>
              </a:rPr>
              <a:t>konzentriert sich auf die Objekte</a:t>
            </a:r>
          </a:p>
          <a:p>
            <a:pPr algn="ctr"/>
            <a:r>
              <a:rPr lang="de-DE" dirty="0">
                <a:effectLst/>
              </a:rPr>
              <a:t>Fokussiert sich nicht auf den konkreten Ablauf</a:t>
            </a:r>
          </a:p>
          <a:p>
            <a:pPr algn="ctr"/>
            <a:endParaRPr lang="de-DE" dirty="0"/>
          </a:p>
          <a:p>
            <a:pPr algn="ctr"/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264631161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el 3">
            <a:extLst>
              <a:ext uri="{FF2B5EF4-FFF2-40B4-BE49-F238E27FC236}">
                <a16:creationId xmlns:a16="http://schemas.microsoft.com/office/drawing/2014/main" id="{1FD8295D-E135-4F7E-A708-D25AABC3C5D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/>
              <a:t>Vorteile?</a:t>
            </a:r>
          </a:p>
        </p:txBody>
      </p:sp>
      <p:sp>
        <p:nvSpPr>
          <p:cNvPr id="6" name="Inhaltsplatzhalter 5">
            <a:extLst>
              <a:ext uri="{FF2B5EF4-FFF2-40B4-BE49-F238E27FC236}">
                <a16:creationId xmlns:a16="http://schemas.microsoft.com/office/drawing/2014/main" id="{96BB05DB-A12B-44D2-8EAB-BD3B8869273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913795" y="1580050"/>
            <a:ext cx="10353762" cy="4058751"/>
          </a:xfrm>
        </p:spPr>
        <p:txBody>
          <a:bodyPr anchor="ctr"/>
          <a:lstStyle/>
          <a:p>
            <a:pPr marL="379800" indent="-342900" algn="ctr">
              <a:buFont typeface="+mj-lt"/>
              <a:buAutoNum type="arabicPeriod"/>
            </a:pPr>
            <a:r>
              <a:rPr lang="de-DE" dirty="0"/>
              <a:t>Einfachere Fehlersuche</a:t>
            </a:r>
          </a:p>
          <a:p>
            <a:pPr marL="379800" indent="-342900" algn="ctr">
              <a:buFont typeface="+mj-lt"/>
              <a:buAutoNum type="arabicPeriod"/>
            </a:pPr>
            <a:r>
              <a:rPr lang="de-DE" dirty="0"/>
              <a:t>Code wiederholt sich nicht</a:t>
            </a:r>
          </a:p>
          <a:p>
            <a:pPr marL="379800" indent="-342900" algn="ctr">
              <a:buFont typeface="+mj-lt"/>
              <a:buAutoNum type="arabicPeriod"/>
            </a:pPr>
            <a:r>
              <a:rPr lang="de-DE" dirty="0"/>
              <a:t>Können leicht Erweitert werden</a:t>
            </a:r>
          </a:p>
          <a:p>
            <a:pPr marL="379800" indent="-342900" algn="ctr">
              <a:buFont typeface="+mj-lt"/>
              <a:buAutoNum type="arabicPeriod"/>
            </a:pPr>
            <a:r>
              <a:rPr lang="de-DE" dirty="0"/>
              <a:t>Anpassungsfähig</a:t>
            </a:r>
          </a:p>
          <a:p>
            <a:pPr marL="379800" indent="-342900" algn="ctr">
              <a:buFont typeface="+mj-lt"/>
              <a:buAutoNum type="arabicPeriod"/>
            </a:pPr>
            <a:r>
              <a:rPr lang="de-DE" dirty="0"/>
              <a:t>Leichter zu verstehen</a:t>
            </a:r>
          </a:p>
        </p:txBody>
      </p:sp>
    </p:spTree>
    <p:extLst>
      <p:ext uri="{BB962C8B-B14F-4D97-AF65-F5344CB8AC3E}">
        <p14:creationId xmlns:p14="http://schemas.microsoft.com/office/powerpoint/2010/main" val="374230597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92DDACC6-70ED-43F0-BD08-B2EB3C727A5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/>
              <a:t>OOP-Sprachen</a:t>
            </a:r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A5A73AD8-B89B-4C8D-AE89-56CC34C0944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anchor="ctr"/>
          <a:lstStyle/>
          <a:p>
            <a:pPr algn="ctr"/>
            <a:r>
              <a:rPr lang="de-DE" dirty="0"/>
              <a:t>Java</a:t>
            </a:r>
          </a:p>
          <a:p>
            <a:pPr algn="ctr"/>
            <a:r>
              <a:rPr lang="de-DE" dirty="0"/>
              <a:t>C++</a:t>
            </a:r>
          </a:p>
          <a:p>
            <a:pPr algn="ctr"/>
            <a:r>
              <a:rPr lang="de-DE" dirty="0"/>
              <a:t>Python</a:t>
            </a:r>
          </a:p>
          <a:p>
            <a:pPr algn="ctr"/>
            <a:r>
              <a:rPr lang="de-DE" dirty="0"/>
              <a:t>Ruby</a:t>
            </a:r>
          </a:p>
          <a:p>
            <a:pPr algn="ctr"/>
            <a:r>
              <a:rPr lang="de-DE" dirty="0"/>
              <a:t>PHP</a:t>
            </a:r>
          </a:p>
          <a:p>
            <a:pPr algn="ctr"/>
            <a:r>
              <a:rPr lang="de-DE" dirty="0"/>
              <a:t>JavaScript</a:t>
            </a:r>
          </a:p>
          <a:p>
            <a:pPr algn="ctr"/>
            <a:r>
              <a:rPr lang="de-DE" dirty="0"/>
              <a:t>C#</a:t>
            </a:r>
          </a:p>
        </p:txBody>
      </p:sp>
    </p:spTree>
    <p:extLst>
      <p:ext uri="{BB962C8B-B14F-4D97-AF65-F5344CB8AC3E}">
        <p14:creationId xmlns:p14="http://schemas.microsoft.com/office/powerpoint/2010/main" val="199172631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28746240-565E-4FBB-BB0E-F0E57FC38B9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/>
              <a:t>Was ist eine Klasse?</a:t>
            </a:r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271CC244-4589-4520-BF44-217505A611C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anchor="ctr"/>
          <a:lstStyle/>
          <a:p>
            <a:pPr algn="ctr"/>
            <a:r>
              <a:rPr lang="de-DE" dirty="0"/>
              <a:t>Eine Art Blaupause für Objekte</a:t>
            </a:r>
          </a:p>
          <a:p>
            <a:pPr algn="ctr"/>
            <a:r>
              <a:rPr lang="de-DE" dirty="0"/>
              <a:t>Beinhaltet die Attribute für Objekte</a:t>
            </a:r>
          </a:p>
          <a:p>
            <a:pPr algn="ctr"/>
            <a:endParaRPr lang="de-DE" dirty="0"/>
          </a:p>
          <a:p>
            <a:pPr algn="ctr"/>
            <a:r>
              <a:rPr lang="de-DE" dirty="0"/>
              <a:t>Beispiel:</a:t>
            </a:r>
          </a:p>
          <a:p>
            <a:pPr algn="ctr"/>
            <a:r>
              <a:rPr lang="de-DE" dirty="0"/>
              <a:t>Klasse: Auto</a:t>
            </a:r>
          </a:p>
        </p:txBody>
      </p:sp>
    </p:spTree>
    <p:extLst>
      <p:ext uri="{BB962C8B-B14F-4D97-AF65-F5344CB8AC3E}">
        <p14:creationId xmlns:p14="http://schemas.microsoft.com/office/powerpoint/2010/main" val="8962924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218BB019-A03E-411D-9478-3553F78D65F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/>
              <a:t>Was ist ein Objekt?</a:t>
            </a:r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4C325876-F82B-4E98-A132-DA33BFD502E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anchor="ctr"/>
          <a:lstStyle/>
          <a:p>
            <a:pPr algn="ctr"/>
            <a:r>
              <a:rPr lang="de-DE" dirty="0"/>
              <a:t>Ist eine reale oder abstrakte Entität</a:t>
            </a:r>
          </a:p>
          <a:p>
            <a:pPr algn="ctr"/>
            <a:r>
              <a:rPr lang="de-DE" dirty="0"/>
              <a:t>Haben Eigenschaften (Attribute)</a:t>
            </a:r>
          </a:p>
          <a:p>
            <a:pPr algn="ctr"/>
            <a:endParaRPr lang="de-DE" dirty="0"/>
          </a:p>
          <a:p>
            <a:pPr algn="ctr"/>
            <a:r>
              <a:rPr lang="de-DE" dirty="0"/>
              <a:t>Beispiel:</a:t>
            </a:r>
          </a:p>
          <a:p>
            <a:pPr algn="ctr"/>
            <a:r>
              <a:rPr lang="de-DE" dirty="0"/>
              <a:t>Katze, Hund, Zug, Mensch, etc.</a:t>
            </a:r>
          </a:p>
          <a:p>
            <a:pPr algn="ctr"/>
            <a:endParaRPr lang="de-DE" dirty="0"/>
          </a:p>
        </p:txBody>
      </p:sp>
      <p:pic>
        <p:nvPicPr>
          <p:cNvPr id="5" name="Grafik 4">
            <a:extLst>
              <a:ext uri="{FF2B5EF4-FFF2-40B4-BE49-F238E27FC236}">
                <a16:creationId xmlns:a16="http://schemas.microsoft.com/office/drawing/2014/main" id="{F605C9CF-5055-4260-A005-7745DFEC433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837473B0-CC2E-450A-ABE3-18F120FF3D39}">
                <a1611:picAttrSrcUrl xmlns:a1611="http://schemas.microsoft.com/office/drawing/2016/11/main" r:id="rId3"/>
              </a:ext>
            </a:extLst>
          </a:blip>
          <a:stretch>
            <a:fillRect/>
          </a:stretch>
        </p:blipFill>
        <p:spPr>
          <a:xfrm>
            <a:off x="553445" y="4062101"/>
            <a:ext cx="2266573" cy="2266573"/>
          </a:xfrm>
          <a:prstGeom prst="roundRect">
            <a:avLst>
              <a:gd name="adj" fmla="val 8594"/>
            </a:avLst>
          </a:prstGeom>
          <a:solidFill>
            <a:srgbClr val="FFFFFF">
              <a:shade val="85000"/>
            </a:srgbClr>
          </a:solidFill>
          <a:ln>
            <a:noFill/>
          </a:ln>
          <a:effectLst>
            <a:reflection blurRad="12700" stA="38000" endPos="28000" dist="5000" dir="5400000" sy="-100000" algn="bl" rotWithShape="0"/>
          </a:effectLst>
        </p:spPr>
      </p:pic>
      <p:pic>
        <p:nvPicPr>
          <p:cNvPr id="9" name="Grafik 8">
            <a:extLst>
              <a:ext uri="{FF2B5EF4-FFF2-40B4-BE49-F238E27FC236}">
                <a16:creationId xmlns:a16="http://schemas.microsoft.com/office/drawing/2014/main" id="{964D3EA1-2D47-408E-B182-66D999854221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  <a:ext uri="{837473B0-CC2E-450A-ABE3-18F120FF3D39}">
                <a1611:picAttrSrcUrl xmlns:a1611="http://schemas.microsoft.com/office/drawing/2016/11/main" r:id="rId5"/>
              </a:ext>
            </a:extLst>
          </a:blip>
          <a:stretch>
            <a:fillRect/>
          </a:stretch>
        </p:blipFill>
        <p:spPr>
          <a:xfrm>
            <a:off x="9460983" y="612449"/>
            <a:ext cx="2166924" cy="1624816"/>
          </a:xfrm>
          <a:prstGeom prst="roundRect">
            <a:avLst>
              <a:gd name="adj" fmla="val 4167"/>
            </a:avLst>
          </a:prstGeom>
          <a:solidFill>
            <a:srgbClr val="FFFFFF"/>
          </a:solidFill>
          <a:ln w="76200" cap="sq">
            <a:solidFill>
              <a:srgbClr val="EAEAEA"/>
            </a:solidFill>
            <a:miter lim="800000"/>
          </a:ln>
          <a:effectLst>
            <a:reflection blurRad="12700" stA="33000" endPos="28000" dist="5000" dir="5400000" sy="-100000" algn="bl" rotWithShape="0"/>
          </a:effectLst>
          <a:scene3d>
            <a:camera prst="orthographicFront"/>
            <a:lightRig rig="threePt" dir="t">
              <a:rot lat="0" lon="0" rev="2700000"/>
            </a:lightRig>
          </a:scene3d>
          <a:sp3d contourW="6350">
            <a:bevelT h="38100"/>
            <a:contourClr>
              <a:srgbClr val="C0C0C0"/>
            </a:contourClr>
          </a:sp3d>
        </p:spPr>
      </p:pic>
    </p:spTree>
    <p:extLst>
      <p:ext uri="{BB962C8B-B14F-4D97-AF65-F5344CB8AC3E}">
        <p14:creationId xmlns:p14="http://schemas.microsoft.com/office/powerpoint/2010/main" val="375850331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475721DF-0C37-45BB-AC6D-10EC762DC53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/>
              <a:t>Was sind Attribute?</a:t>
            </a:r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111E1C01-6EAC-4C72-BD80-6C1323E284F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anchor="ctr"/>
          <a:lstStyle/>
          <a:p>
            <a:pPr algn="ctr"/>
            <a:r>
              <a:rPr lang="de-DE" dirty="0"/>
              <a:t>Attribute sind Objekt-Eigenschaften</a:t>
            </a:r>
          </a:p>
          <a:p>
            <a:pPr algn="ctr"/>
            <a:endParaRPr lang="de-DE" dirty="0"/>
          </a:p>
          <a:p>
            <a:pPr algn="ctr"/>
            <a:r>
              <a:rPr lang="de-DE" dirty="0"/>
              <a:t>Beispiel:</a:t>
            </a:r>
          </a:p>
          <a:p>
            <a:pPr algn="ctr"/>
            <a:r>
              <a:rPr lang="de-DE" dirty="0"/>
              <a:t>Klasse: Auto</a:t>
            </a:r>
          </a:p>
          <a:p>
            <a:pPr algn="ctr"/>
            <a:r>
              <a:rPr lang="de-DE" dirty="0"/>
              <a:t>Attribute: Farbe, Marke, Typ, etc.</a:t>
            </a:r>
          </a:p>
        </p:txBody>
      </p:sp>
    </p:spTree>
    <p:extLst>
      <p:ext uri="{BB962C8B-B14F-4D97-AF65-F5344CB8AC3E}">
        <p14:creationId xmlns:p14="http://schemas.microsoft.com/office/powerpoint/2010/main" val="2265117785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94629348-D504-45E6-AE97-035DA7ADEC9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/>
              <a:t>Was ist eine Methode?</a:t>
            </a:r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868E4670-65D6-49B8-890E-E5D9200F421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anchor="ctr"/>
          <a:lstStyle/>
          <a:p>
            <a:pPr algn="ctr"/>
            <a:r>
              <a:rPr lang="de-DE" dirty="0"/>
              <a:t>Definieren Verhaltensweisen von Objekten oder Klassen</a:t>
            </a:r>
          </a:p>
          <a:p>
            <a:pPr algn="ctr"/>
            <a:endParaRPr lang="de-DE" dirty="0"/>
          </a:p>
          <a:p>
            <a:pPr algn="ctr"/>
            <a:r>
              <a:rPr lang="de-DE" dirty="0"/>
              <a:t>Beispiel:</a:t>
            </a:r>
          </a:p>
          <a:p>
            <a:pPr algn="ctr"/>
            <a:r>
              <a:rPr lang="de-DE" dirty="0"/>
              <a:t>Klasse: Auto</a:t>
            </a:r>
          </a:p>
          <a:p>
            <a:pPr algn="ctr"/>
            <a:r>
              <a:rPr lang="de-DE" dirty="0"/>
              <a:t>Attribute: Farbe, Typ, Marke</a:t>
            </a:r>
          </a:p>
          <a:p>
            <a:pPr algn="ctr"/>
            <a:r>
              <a:rPr lang="de-DE" dirty="0"/>
              <a:t>Methoden: Beschleunigung, bremsen, </a:t>
            </a:r>
          </a:p>
          <a:p>
            <a:pPr algn="ctr"/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4126140262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59701646-6EEC-423B-9ABE-13B9BE17D9D3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de-DE" dirty="0"/>
              <a:t>4 Grundsäulen von OOP</a:t>
            </a:r>
          </a:p>
        </p:txBody>
      </p:sp>
      <p:sp>
        <p:nvSpPr>
          <p:cNvPr id="3" name="Untertitel 2">
            <a:extLst>
              <a:ext uri="{FF2B5EF4-FFF2-40B4-BE49-F238E27FC236}">
                <a16:creationId xmlns:a16="http://schemas.microsoft.com/office/drawing/2014/main" id="{6A5617AE-EBB4-44F0-8575-51015CFB2D6F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de-DE" dirty="0"/>
              <a:t>Kapselung, Abstraktion, Vererbung, Polymorphismus</a:t>
            </a:r>
          </a:p>
        </p:txBody>
      </p:sp>
    </p:spTree>
    <p:extLst>
      <p:ext uri="{BB962C8B-B14F-4D97-AF65-F5344CB8AC3E}">
        <p14:creationId xmlns:p14="http://schemas.microsoft.com/office/powerpoint/2010/main" val="882343775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0F5D798D-D2CB-4B3F-B7E8-20882E50443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/>
              <a:t>Kapselung</a:t>
            </a:r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0FDBDDF5-1451-4643-A938-9F6E27D375D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anchor="ctr"/>
          <a:lstStyle/>
          <a:p>
            <a:pPr algn="ctr"/>
            <a:r>
              <a:rPr lang="de-DE" dirty="0"/>
              <a:t>wichtige Informationen werden innerhalb der Klasse erstellt</a:t>
            </a:r>
          </a:p>
          <a:p>
            <a:pPr algn="ctr"/>
            <a:r>
              <a:rPr lang="de-DE" dirty="0"/>
              <a:t>Andere Objekte haben keine Befugnis darauf zu zugreifen, </a:t>
            </a:r>
          </a:p>
          <a:p>
            <a:pPr algn="ctr"/>
            <a:r>
              <a:rPr lang="de-DE" dirty="0"/>
              <a:t>sie können ebenso nichts verändern</a:t>
            </a:r>
          </a:p>
        </p:txBody>
      </p:sp>
    </p:spTree>
    <p:extLst>
      <p:ext uri="{BB962C8B-B14F-4D97-AF65-F5344CB8AC3E}">
        <p14:creationId xmlns:p14="http://schemas.microsoft.com/office/powerpoint/2010/main" val="1866396489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E9EE94CA-73EF-4E97-9E6A-6DC062C5A3A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/>
              <a:t>Abstraktion</a:t>
            </a:r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50C2066F-1DC5-4E66-B310-2E8FFE97E01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anchor="ctr"/>
          <a:lstStyle/>
          <a:p>
            <a:pPr algn="ctr"/>
            <a:r>
              <a:rPr lang="de-DE" dirty="0"/>
              <a:t>Objekte geben nur relevante Informationen für andere Objekte aus</a:t>
            </a:r>
          </a:p>
        </p:txBody>
      </p:sp>
    </p:spTree>
    <p:extLst>
      <p:ext uri="{BB962C8B-B14F-4D97-AF65-F5344CB8AC3E}">
        <p14:creationId xmlns:p14="http://schemas.microsoft.com/office/powerpoint/2010/main" val="3843057395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FCA19C3E-DCEF-486C-9CEE-3707FB5C53F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/>
              <a:t>Vererbung</a:t>
            </a:r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A5917BC5-7888-4DBE-8ACD-938715B9FA2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anchor="ctr"/>
          <a:lstStyle/>
          <a:p>
            <a:pPr algn="ctr"/>
            <a:r>
              <a:rPr lang="de-DE" dirty="0"/>
              <a:t>Klassen können den Code von anderen Klassen wiederverwenden</a:t>
            </a:r>
          </a:p>
        </p:txBody>
      </p:sp>
    </p:spTree>
    <p:extLst>
      <p:ext uri="{BB962C8B-B14F-4D97-AF65-F5344CB8AC3E}">
        <p14:creationId xmlns:p14="http://schemas.microsoft.com/office/powerpoint/2010/main" val="733651647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87FA3AC3-5B1F-4B27-BECA-75A3505CA0C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/>
              <a:t>Polymorphismus</a:t>
            </a:r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36CB0A08-98A9-4B42-A93F-2478FCF5E46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anchor="ctr"/>
          <a:lstStyle/>
          <a:p>
            <a:pPr algn="ctr"/>
            <a:r>
              <a:rPr lang="de-DE" dirty="0"/>
              <a:t>Verschiedene Objekttypen die selbe Schnittstelle durchlaufen</a:t>
            </a:r>
          </a:p>
        </p:txBody>
      </p:sp>
    </p:spTree>
    <p:extLst>
      <p:ext uri="{BB962C8B-B14F-4D97-AF65-F5344CB8AC3E}">
        <p14:creationId xmlns:p14="http://schemas.microsoft.com/office/powerpoint/2010/main" val="326363036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CEB73D64-9678-4AE0-B9C8-B32B5D9B2B9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/>
              <a:t>Vielen Dank für Ihre Aufmerksamkeit</a:t>
            </a:r>
          </a:p>
        </p:txBody>
      </p:sp>
      <p:pic>
        <p:nvPicPr>
          <p:cNvPr id="5" name="Inhaltsplatzhalter 4">
            <a:extLst>
              <a:ext uri="{FF2B5EF4-FFF2-40B4-BE49-F238E27FC236}">
                <a16:creationId xmlns:a16="http://schemas.microsoft.com/office/drawing/2014/main" id="{B36A7868-5B80-4AA9-A94D-959A2200E9F7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709093" y="1983783"/>
            <a:ext cx="4763165" cy="3572374"/>
          </a:xfrm>
          <a:prstGeom prst="roundRect">
            <a:avLst>
              <a:gd name="adj" fmla="val 8594"/>
            </a:avLst>
          </a:prstGeom>
          <a:solidFill>
            <a:srgbClr val="FFFFFF">
              <a:shade val="85000"/>
            </a:srgbClr>
          </a:solidFill>
          <a:ln>
            <a:noFill/>
          </a:ln>
          <a:effectLst>
            <a:reflection blurRad="12700" stA="38000" endPos="28000" dist="5000" dir="5400000" sy="-100000" algn="bl" rotWithShape="0"/>
          </a:effectLst>
        </p:spPr>
      </p:pic>
    </p:spTree>
    <p:extLst>
      <p:ext uri="{BB962C8B-B14F-4D97-AF65-F5344CB8AC3E}">
        <p14:creationId xmlns:p14="http://schemas.microsoft.com/office/powerpoint/2010/main" val="3363041039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Schiefer">
  <a:themeElements>
    <a:clrScheme name="Schiefer">
      <a:dk1>
        <a:sysClr val="windowText" lastClr="000000"/>
      </a:dk1>
      <a:lt1>
        <a:sysClr val="window" lastClr="FFFFFF"/>
      </a:lt1>
      <a:dk2>
        <a:srgbClr val="212123"/>
      </a:dk2>
      <a:lt2>
        <a:srgbClr val="DADADA"/>
      </a:lt2>
      <a:accent1>
        <a:srgbClr val="BC451B"/>
      </a:accent1>
      <a:accent2>
        <a:srgbClr val="D3BA68"/>
      </a:accent2>
      <a:accent3>
        <a:srgbClr val="BB8640"/>
      </a:accent3>
      <a:accent4>
        <a:srgbClr val="AD9277"/>
      </a:accent4>
      <a:accent5>
        <a:srgbClr val="A55A43"/>
      </a:accent5>
      <a:accent6>
        <a:srgbClr val="AD9D7B"/>
      </a:accent6>
      <a:hlink>
        <a:srgbClr val="E98052"/>
      </a:hlink>
      <a:folHlink>
        <a:srgbClr val="F4B69B"/>
      </a:folHlink>
    </a:clrScheme>
    <a:fontScheme name="Schiefer">
      <a:majorFont>
        <a:latin typeface="Calisto MT" panose="02040603050505030304"/>
        <a:ea typeface=""/>
        <a:cs typeface=""/>
        <a:font script="Jpan" typeface="ＭＳ Ｐゴシック"/>
        <a:font script="Hang" typeface="돋움"/>
        <a:font script="Hans" typeface="方正舒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Calisto MT" panose="02040603050505030304"/>
        <a:ea typeface=""/>
        <a:cs typeface=""/>
        <a:font script="Jpan" typeface="ＭＳ Ｐゴシック"/>
        <a:font script="Hang" typeface="돋움"/>
        <a:font script="Hans" typeface="方正舒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Schiefer">
      <a:fillStyleLst>
        <a:solidFill>
          <a:schemeClr val="phClr"/>
        </a:solidFill>
        <a:gradFill rotWithShape="1">
          <a:gsLst>
            <a:gs pos="0">
              <a:schemeClr val="phClr">
                <a:tint val="60000"/>
                <a:lumMod val="110000"/>
              </a:schemeClr>
            </a:gs>
            <a:gs pos="100000">
              <a:schemeClr val="phClr">
                <a:tint val="88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6000"/>
                <a:lumMod val="104000"/>
              </a:schemeClr>
            </a:gs>
            <a:gs pos="100000">
              <a:schemeClr val="phClr">
                <a:shade val="90000"/>
                <a:lumMod val="90000"/>
              </a:schemeClr>
            </a:gs>
          </a:gsLst>
          <a:lin ang="5400000" scaled="0"/>
        </a:gradFill>
      </a:fillStyleLst>
      <a:lnStyleLst>
        <a:ln w="9525" cap="rnd" cmpd="sng" algn="ctr">
          <a:solidFill>
            <a:schemeClr val="phClr">
              <a:shade val="90000"/>
            </a:schemeClr>
          </a:solidFill>
          <a:prstDash val="solid"/>
        </a:ln>
        <a:ln w="15875" cap="rnd" cmpd="sng" algn="ctr">
          <a:solidFill>
            <a:schemeClr val="phClr"/>
          </a:solidFill>
          <a:prstDash val="solid"/>
        </a:ln>
        <a:ln w="25400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63500" dist="25400" dir="5400000" rotWithShape="0">
              <a:srgbClr val="000000">
                <a:alpha val="60000"/>
              </a:srgbClr>
            </a:outerShdw>
          </a:effectLst>
        </a:effectStyle>
        <a:effectStyle>
          <a:effectLst>
            <a:outerShdw blurRad="76200" dist="38100" dir="5400000" rotWithShape="0">
              <a:srgbClr val="000000">
                <a:alpha val="7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 prst="hardEdge"/>
          </a:sp3d>
        </a:effectStyle>
      </a:effectStyleLst>
      <a:bgFillStyleLst>
        <a:solidFill>
          <a:schemeClr val="phClr"/>
        </a:solidFill>
        <a:solidFill>
          <a:schemeClr val="phClr"/>
        </a:solidFill>
        <a:blipFill rotWithShape="1">
          <a:blip xmlns:r="http://schemas.openxmlformats.org/officeDocument/2006/relationships" r:embed="rId1">
            <a:duotone>
              <a:schemeClr val="phClr">
                <a:shade val="80000"/>
                <a:lumMod val="80000"/>
              </a:schemeClr>
              <a:schemeClr val="phClr">
                <a:tint val="98000"/>
              </a:schemeClr>
            </a:duotone>
          </a:blip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Slate" id="{C3F70B94-7CE9-428E-ADC1-3269CC2C3385}" vid="{3F2DE9A5-64E6-437C-A389-CC4477E817E8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Schiefer</Template>
  <TotalTime>0</TotalTime>
  <Words>259</Words>
  <Application>Microsoft Office PowerPoint</Application>
  <PresentationFormat>Breitbild</PresentationFormat>
  <Paragraphs>71</Paragraphs>
  <Slides>16</Slides>
  <Notes>0</Notes>
  <HiddenSlides>0</HiddenSlides>
  <MMClips>0</MMClips>
  <ScaleCrop>false</ScaleCrop>
  <HeadingPairs>
    <vt:vector size="6" baseType="variant">
      <vt:variant>
        <vt:lpstr>Verwendete Schriftarten</vt:lpstr>
      </vt:variant>
      <vt:variant>
        <vt:i4>3</vt:i4>
      </vt:variant>
      <vt:variant>
        <vt:lpstr>Design</vt:lpstr>
      </vt:variant>
      <vt:variant>
        <vt:i4>1</vt:i4>
      </vt:variant>
      <vt:variant>
        <vt:lpstr>Folientitel</vt:lpstr>
      </vt:variant>
      <vt:variant>
        <vt:i4>16</vt:i4>
      </vt:variant>
    </vt:vector>
  </HeadingPairs>
  <TitlesOfParts>
    <vt:vector size="20" baseType="lpstr">
      <vt:lpstr>Calisto MT</vt:lpstr>
      <vt:lpstr>Trebuchet MS</vt:lpstr>
      <vt:lpstr>Wingdings 2</vt:lpstr>
      <vt:lpstr>Schiefer</vt:lpstr>
      <vt:lpstr>OOP</vt:lpstr>
      <vt:lpstr>Agenda</vt:lpstr>
      <vt:lpstr>Was ist OOP?</vt:lpstr>
      <vt:lpstr>Wozu wird es verwendet?</vt:lpstr>
      <vt:lpstr>Vorteile?</vt:lpstr>
      <vt:lpstr>OOP-Sprachen</vt:lpstr>
      <vt:lpstr>Was ist eine Klasse?</vt:lpstr>
      <vt:lpstr>Was ist ein Objekt?</vt:lpstr>
      <vt:lpstr>Was sind Attribute?</vt:lpstr>
      <vt:lpstr>Was ist eine Methode?</vt:lpstr>
      <vt:lpstr>4 Grundsäulen von OOP</vt:lpstr>
      <vt:lpstr>Kapselung</vt:lpstr>
      <vt:lpstr>Abstraktion</vt:lpstr>
      <vt:lpstr>Vererbung</vt:lpstr>
      <vt:lpstr>Polymorphismus</vt:lpstr>
      <vt:lpstr>Vielen Dank für Ihre Aufmerksamkeit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OOP</dc:title>
  <dc:creator>Istvan Fazekas</dc:creator>
  <cp:lastModifiedBy>Istvan Fazekas</cp:lastModifiedBy>
  <cp:revision>50</cp:revision>
  <dcterms:created xsi:type="dcterms:W3CDTF">2023-09-26T06:22:25Z</dcterms:created>
  <dcterms:modified xsi:type="dcterms:W3CDTF">2023-09-27T12:19:14Z</dcterms:modified>
</cp:coreProperties>
</file>