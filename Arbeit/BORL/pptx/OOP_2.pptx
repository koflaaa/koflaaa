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8" r:id="rId3"/>
    <p:sldId id="272" r:id="rId4"/>
    <p:sldId id="269" r:id="rId5"/>
    <p:sldId id="273" r:id="rId6"/>
    <p:sldId id="270" r:id="rId7"/>
    <p:sldId id="271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2211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979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940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6926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7891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8233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964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7842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383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4496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8801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3632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9152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31723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64000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8457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4077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3C15F7D-926A-4E03-B01C-E926A6FB4C52}" type="datetimeFigureOut">
              <a:rPr lang="de-DE" smtClean="0"/>
              <a:t>04.10.2023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014F6BA-2E9D-4077-894C-69A2961C15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9327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B1A49C-EB99-4330-950C-B6A8901B31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4 Säulen von OOP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6B4448F2-47A7-4052-9C0B-07F8A57AE6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Kapselung, Abstraktion, Vererbung, Polymorphismus</a:t>
            </a:r>
          </a:p>
          <a:p>
            <a:r>
              <a:rPr lang="de-DE" dirty="0"/>
              <a:t>Taylor Kofler</a:t>
            </a:r>
          </a:p>
        </p:txBody>
      </p:sp>
    </p:spTree>
    <p:extLst>
      <p:ext uri="{BB962C8B-B14F-4D97-AF65-F5344CB8AC3E}">
        <p14:creationId xmlns:p14="http://schemas.microsoft.com/office/powerpoint/2010/main" val="3888871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D798D-D2CB-4B3F-B7E8-20882E50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Kapselung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DBDDF5-1451-4643-A938-9F6E27D37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6900" indent="0" algn="ctr">
              <a:buNone/>
            </a:pPr>
            <a:r>
              <a:rPr lang="de-DE" dirty="0"/>
              <a:t>Regelt die Zugriffrechte von Attributen, Klassen und Methoden</a:t>
            </a:r>
          </a:p>
          <a:p>
            <a:pPr marL="36900" indent="0" algn="ctr">
              <a:buNone/>
            </a:pPr>
            <a:r>
              <a:rPr lang="de-DE" dirty="0"/>
              <a:t>mit sogenannten </a:t>
            </a:r>
            <a:r>
              <a:rPr lang="en-GB" dirty="0"/>
              <a:t>Access modifier</a:t>
            </a:r>
          </a:p>
        </p:txBody>
      </p:sp>
    </p:spTree>
    <p:extLst>
      <p:ext uri="{BB962C8B-B14F-4D97-AF65-F5344CB8AC3E}">
        <p14:creationId xmlns:p14="http://schemas.microsoft.com/office/powerpoint/2010/main" val="1866396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BF6E38-9487-41A2-BF53-1883561EB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 modifier</a:t>
            </a:r>
            <a:r>
              <a:rPr lang="de-DE" dirty="0"/>
              <a:t> (</a:t>
            </a:r>
            <a:r>
              <a:rPr lang="en-US" dirty="0" err="1">
                <a:effectLst/>
              </a:rPr>
              <a:t>Zugriffsmodifizierer</a:t>
            </a:r>
            <a:r>
              <a:rPr lang="de-DE" dirty="0"/>
              <a:t>)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4BE3CA-45A3-4CDC-82DA-4B5F8E7BA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>
                <a:effectLst/>
              </a:rPr>
              <a:t>public</a:t>
            </a:r>
            <a:r>
              <a:rPr lang="de-DE" dirty="0">
                <a:effectLst/>
              </a:rPr>
              <a:t> 	</a:t>
            </a:r>
            <a:r>
              <a:rPr lang="de-DE" dirty="0">
                <a:effectLst/>
                <a:sym typeface="Wingdings" panose="05000000000000000000" pitchFamily="2" charset="2"/>
              </a:rPr>
              <a:t> Jeder kann egal wo es ist darauf zugreifen</a:t>
            </a:r>
          </a:p>
          <a:p>
            <a:r>
              <a:rPr lang="en-US" dirty="0">
                <a:effectLst/>
                <a:sym typeface="Wingdings" panose="05000000000000000000" pitchFamily="2" charset="2"/>
              </a:rPr>
              <a:t>private 	 </a:t>
            </a:r>
            <a:r>
              <a:rPr lang="de-AT" dirty="0">
                <a:effectLst/>
                <a:sym typeface="Wingdings" panose="05000000000000000000" pitchFamily="2" charset="2"/>
              </a:rPr>
              <a:t>Nur die selbe Klasse kann darauf zugreifen</a:t>
            </a:r>
          </a:p>
          <a:p>
            <a:r>
              <a:rPr lang="en-GB" dirty="0">
                <a:effectLst/>
                <a:sym typeface="Wingdings" panose="05000000000000000000" pitchFamily="2" charset="2"/>
              </a:rPr>
              <a:t>protected</a:t>
            </a:r>
            <a:r>
              <a:rPr lang="de-DE" dirty="0">
                <a:effectLst/>
                <a:sym typeface="Wingdings" panose="05000000000000000000" pitchFamily="2" charset="2"/>
              </a:rPr>
              <a:t>  Selbe Klasse oder davon abgeleitete Klassen (Unterklassen) können darauf zugreifen	</a:t>
            </a:r>
          </a:p>
          <a:p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0938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EE94CA-73EF-4E97-9E6A-6DC062C5A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Abstraktion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C2066F-1DC5-4E66-B310-2E8FFE97E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297415"/>
          </a:xfrm>
        </p:spPr>
        <p:txBody>
          <a:bodyPr anchor="ctr"/>
          <a:lstStyle/>
          <a:p>
            <a:pPr algn="ctr"/>
            <a:r>
              <a:rPr lang="de-DE" dirty="0">
                <a:effectLst/>
              </a:rPr>
              <a:t>Bezieht sich auf das Konzept, irrelevante Details zu verbergen und nur</a:t>
            </a:r>
          </a:p>
          <a:p>
            <a:pPr marL="36900" indent="0" algn="ctr">
              <a:buNone/>
            </a:pPr>
            <a:r>
              <a:rPr lang="de-DE" dirty="0">
                <a:effectLst/>
              </a:rPr>
              <a:t>die wesentlichen Details oder Funktionen eines Objektes zu zeigen</a:t>
            </a:r>
          </a:p>
        </p:txBody>
      </p:sp>
    </p:spTree>
    <p:extLst>
      <p:ext uri="{BB962C8B-B14F-4D97-AF65-F5344CB8AC3E}">
        <p14:creationId xmlns:p14="http://schemas.microsoft.com/office/powerpoint/2010/main" val="3843057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96D604-8605-40E3-9CD6-0002584FC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 zur Abstraktion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E95948-C53C-4372-8FEE-93D2899FC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823626"/>
          </a:xfrm>
        </p:spPr>
        <p:txBody>
          <a:bodyPr anchor="ctr"/>
          <a:lstStyle/>
          <a:p>
            <a:pPr marL="36900" indent="0" algn="ctr">
              <a:buNone/>
            </a:pPr>
            <a:r>
              <a:rPr lang="de-DE" dirty="0"/>
              <a:t>Wie beschreibe ich ein Auto:</a:t>
            </a:r>
          </a:p>
          <a:p>
            <a:pPr marL="36900" indent="0" algn="ctr">
              <a:buNone/>
            </a:pPr>
            <a:endParaRPr lang="de-DE" dirty="0"/>
          </a:p>
          <a:p>
            <a:pPr marL="36900" indent="0" algn="ctr">
              <a:buNone/>
            </a:pPr>
            <a:r>
              <a:rPr lang="de-DE" dirty="0"/>
              <a:t>Was man beschreibt:</a:t>
            </a:r>
          </a:p>
          <a:p>
            <a:pPr marL="36900" indent="0" algn="ctr">
              <a:buNone/>
            </a:pPr>
            <a:r>
              <a:rPr lang="de-DE" dirty="0"/>
              <a:t>Die Farbe, </a:t>
            </a:r>
            <a:r>
              <a:rPr lang="de-DE" dirty="0" err="1"/>
              <a:t>event</a:t>
            </a:r>
            <a:r>
              <a:rPr lang="de-DE" dirty="0"/>
              <a:t>. Marke, Typ, </a:t>
            </a:r>
            <a:r>
              <a:rPr lang="de-DE" dirty="0" err="1"/>
              <a:t>event</a:t>
            </a:r>
            <a:r>
              <a:rPr lang="de-DE" dirty="0"/>
              <a:t>. Modell, </a:t>
            </a:r>
            <a:r>
              <a:rPr lang="de-DE" dirty="0" err="1"/>
              <a:t>event</a:t>
            </a:r>
            <a:r>
              <a:rPr lang="de-DE" dirty="0"/>
              <a:t>. Baujahr </a:t>
            </a:r>
            <a:r>
              <a:rPr lang="de-DE" dirty="0">
                <a:sym typeface="Wingdings" panose="05000000000000000000" pitchFamily="2" charset="2"/>
              </a:rPr>
              <a:t> relevant</a:t>
            </a:r>
          </a:p>
          <a:p>
            <a:pPr marL="36900" indent="0" algn="ctr">
              <a:buNone/>
            </a:pPr>
            <a:endParaRPr lang="de-DE" dirty="0"/>
          </a:p>
          <a:p>
            <a:pPr marL="36900" indent="0" algn="ctr">
              <a:buNone/>
            </a:pPr>
            <a:r>
              <a:rPr lang="de-DE" dirty="0"/>
              <a:t>Was man nicht beschreibt:</a:t>
            </a:r>
          </a:p>
          <a:p>
            <a:pPr marL="36900" indent="0" algn="ctr">
              <a:buNone/>
            </a:pPr>
            <a:r>
              <a:rPr lang="de-DE" dirty="0"/>
              <a:t>Hubraum, Kilometerstand, Verbrauch/km  </a:t>
            </a:r>
            <a:r>
              <a:rPr lang="de-DE" dirty="0">
                <a:sym typeface="Wingdings" panose="05000000000000000000" pitchFamily="2" charset="2"/>
              </a:rPr>
              <a:t> irrelevant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759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19C3E-DCEF-486C-9CEE-3707FB5C5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Vererbung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917BC5-7888-4DBE-8ACD-938715B9FA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/>
          <a:lstStyle/>
          <a:p>
            <a:pPr algn="ctr"/>
            <a:r>
              <a:rPr lang="de-DE" dirty="0"/>
              <a:t>Unterklassen können bestehende Eigenschaften aus einer Oberklasse erben und erweitern</a:t>
            </a:r>
          </a:p>
          <a:p>
            <a:pPr algn="ctr"/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291800A-577C-47C9-8196-C7725F9002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F5C37DB-93DE-4243-9CCF-A92942AAD077}"/>
              </a:ext>
            </a:extLst>
          </p:cNvPr>
          <p:cNvSpPr/>
          <p:nvPr/>
        </p:nvSpPr>
        <p:spPr>
          <a:xfrm>
            <a:off x="6217710" y="1732449"/>
            <a:ext cx="2401254" cy="11828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de-DE" sz="1600" dirty="0"/>
              <a:t>Fahrzeug (Oberklasse)</a:t>
            </a:r>
          </a:p>
          <a:p>
            <a:endParaRPr lang="de-DE" sz="1600" dirty="0"/>
          </a:p>
          <a:p>
            <a:r>
              <a:rPr lang="de-DE" sz="1600" dirty="0" err="1"/>
              <a:t>anzahlSitzplätze</a:t>
            </a:r>
            <a:endParaRPr lang="de-DE" sz="1600" dirty="0"/>
          </a:p>
          <a:p>
            <a:r>
              <a:rPr lang="de-DE" sz="1600" dirty="0" err="1"/>
              <a:t>anzahlTüren</a:t>
            </a:r>
            <a:endParaRPr lang="de-DE" sz="16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E8C7E6A-7AC9-4F42-8481-50E518D59254}"/>
              </a:ext>
            </a:extLst>
          </p:cNvPr>
          <p:cNvSpPr/>
          <p:nvPr/>
        </p:nvSpPr>
        <p:spPr>
          <a:xfrm>
            <a:off x="8618964" y="4002247"/>
            <a:ext cx="2625755" cy="17889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/>
              <a:t>PKW (Unterklasse)</a:t>
            </a:r>
          </a:p>
          <a:p>
            <a:pPr algn="ctr"/>
            <a:endParaRPr lang="de-DE" sz="1600" dirty="0"/>
          </a:p>
          <a:p>
            <a:r>
              <a:rPr lang="de-DE" sz="1600" dirty="0" err="1"/>
              <a:t>anzahlSitzplätze</a:t>
            </a:r>
            <a:endParaRPr lang="de-DE" sz="1600" dirty="0"/>
          </a:p>
          <a:p>
            <a:r>
              <a:rPr lang="de-DE" sz="1600" dirty="0" err="1"/>
              <a:t>anzahlTüren</a:t>
            </a:r>
            <a:endParaRPr lang="de-DE" sz="1600" dirty="0"/>
          </a:p>
          <a:p>
            <a:r>
              <a:rPr lang="de-DE" sz="1600" dirty="0" err="1"/>
              <a:t>anzahlReifen</a:t>
            </a:r>
            <a:endParaRPr lang="de-DE" sz="16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71A3305-2A2A-44AB-9FDA-B48C7C03EAE8}"/>
              </a:ext>
            </a:extLst>
          </p:cNvPr>
          <p:cNvSpPr txBox="1"/>
          <p:nvPr/>
        </p:nvSpPr>
        <p:spPr>
          <a:xfrm rot="3444366">
            <a:off x="8788593" y="3187814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erbt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AA17B9CC-EC46-42BD-AA26-1E23D6EBBB80}"/>
              </a:ext>
            </a:extLst>
          </p:cNvPr>
          <p:cNvCxnSpPr>
            <a:cxnSpLocks/>
          </p:cNvCxnSpPr>
          <p:nvPr/>
        </p:nvCxnSpPr>
        <p:spPr>
          <a:xfrm>
            <a:off x="8618964" y="3011648"/>
            <a:ext cx="585421" cy="8358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1AD252E-BE8A-44C2-8191-8C373A04DB95}"/>
              </a:ext>
            </a:extLst>
          </p:cNvPr>
          <p:cNvCxnSpPr/>
          <p:nvPr/>
        </p:nvCxnSpPr>
        <p:spPr>
          <a:xfrm>
            <a:off x="7901796" y="5408762"/>
            <a:ext cx="6124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C58D781E-B592-438E-8FD4-B483403543FF}"/>
              </a:ext>
            </a:extLst>
          </p:cNvPr>
          <p:cNvSpPr txBox="1"/>
          <p:nvPr/>
        </p:nvSpPr>
        <p:spPr>
          <a:xfrm>
            <a:off x="6881724" y="5254873"/>
            <a:ext cx="9057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Erweitert</a:t>
            </a:r>
            <a:endParaRPr lang="en-US" sz="1400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BF950C11-C9B1-471D-84B2-603CEB7FA881}"/>
              </a:ext>
            </a:extLst>
          </p:cNvPr>
          <p:cNvCxnSpPr/>
          <p:nvPr/>
        </p:nvCxnSpPr>
        <p:spPr>
          <a:xfrm>
            <a:off x="7901796" y="4902474"/>
            <a:ext cx="6124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CB945F82-2EAD-4910-9C8F-F0679A05CC15}"/>
              </a:ext>
            </a:extLst>
          </p:cNvPr>
          <p:cNvCxnSpPr/>
          <p:nvPr/>
        </p:nvCxnSpPr>
        <p:spPr>
          <a:xfrm>
            <a:off x="7937739" y="5200239"/>
            <a:ext cx="6124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C2F9E4EF-ED92-4A29-867F-B8D0408996AE}"/>
              </a:ext>
            </a:extLst>
          </p:cNvPr>
          <p:cNvSpPr txBox="1"/>
          <p:nvPr/>
        </p:nvSpPr>
        <p:spPr>
          <a:xfrm>
            <a:off x="7076572" y="4861685"/>
            <a:ext cx="905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geerbt}</a:t>
            </a:r>
            <a:endParaRPr lang="en-US" sz="1600" dirty="0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CB470BC-0CD7-4CD8-AD6B-E28D1EC76753}"/>
              </a:ext>
            </a:extLst>
          </p:cNvPr>
          <p:cNvCxnSpPr>
            <a:cxnSpLocks/>
          </p:cNvCxnSpPr>
          <p:nvPr/>
        </p:nvCxnSpPr>
        <p:spPr>
          <a:xfrm flipH="1" flipV="1">
            <a:off x="8982150" y="2760453"/>
            <a:ext cx="1110757" cy="10013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C2E643B0-1E1C-4614-A094-C1B4CD92E5A0}"/>
              </a:ext>
            </a:extLst>
          </p:cNvPr>
          <p:cNvSpPr txBox="1"/>
          <p:nvPr/>
        </p:nvSpPr>
        <p:spPr>
          <a:xfrm rot="2556890">
            <a:off x="8784336" y="2934701"/>
            <a:ext cx="1749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Generalisierung</a:t>
            </a:r>
            <a:endParaRPr lang="en-US" dirty="0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FD5EDB7A-6C92-4402-8481-DE34C1BAC1E5}"/>
              </a:ext>
            </a:extLst>
          </p:cNvPr>
          <p:cNvCxnSpPr>
            <a:cxnSpLocks/>
          </p:cNvCxnSpPr>
          <p:nvPr/>
        </p:nvCxnSpPr>
        <p:spPr>
          <a:xfrm>
            <a:off x="7858791" y="3037718"/>
            <a:ext cx="655481" cy="9427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546B157A-A29C-48BC-90A4-3CE24F4EB851}"/>
              </a:ext>
            </a:extLst>
          </p:cNvPr>
          <p:cNvSpPr txBox="1"/>
          <p:nvPr/>
        </p:nvSpPr>
        <p:spPr>
          <a:xfrm rot="3297051">
            <a:off x="7140728" y="3467834"/>
            <a:ext cx="1667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Spezialisierung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651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FA3AC3-5B1F-4B27-BECA-75A3505CA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Polymorphismus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CB0A08-98A9-4B42-A93F-2478FCF5E4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de-DE" dirty="0"/>
              <a:t>(Unter-)Klassen erben von einer </a:t>
            </a:r>
            <a:br>
              <a:rPr lang="de-DE" dirty="0"/>
            </a:br>
            <a:r>
              <a:rPr lang="de-DE" dirty="0"/>
              <a:t>(Ober-)Klasse eine Methode z.B. </a:t>
            </a:r>
            <a:r>
              <a:rPr lang="de-DE" dirty="0" err="1"/>
              <a:t>GibtLaut</a:t>
            </a:r>
            <a:endParaRPr lang="de-DE" dirty="0"/>
          </a:p>
          <a:p>
            <a:pPr algn="ctr"/>
            <a:r>
              <a:rPr lang="de-DE" dirty="0"/>
              <a:t>Jede Unterklasse kann diese jedoch neu definieren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7B6C806-815B-48AD-9724-50FB30461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426811"/>
          </a:xfrm>
        </p:spPr>
        <p:txBody>
          <a:bodyPr>
            <a:noAutofit/>
          </a:bodyPr>
          <a:lstStyle/>
          <a:p>
            <a:r>
              <a:rPr lang="de-DE" sz="1600" dirty="0"/>
              <a:t>Beispiel:</a:t>
            </a:r>
          </a:p>
          <a:p>
            <a:pPr lvl="1"/>
            <a:r>
              <a:rPr lang="de-DE" sz="1400" dirty="0"/>
              <a:t>Oberklasse Tier{</a:t>
            </a:r>
          </a:p>
          <a:p>
            <a:pPr lvl="2"/>
            <a:r>
              <a:rPr lang="de-DE" sz="1200" dirty="0"/>
              <a:t>Methode </a:t>
            </a:r>
            <a:r>
              <a:rPr lang="de-DE" sz="1200" dirty="0" err="1"/>
              <a:t>GibtLaut</a:t>
            </a:r>
            <a:r>
              <a:rPr lang="de-DE" sz="1200" dirty="0"/>
              <a:t>(){</a:t>
            </a:r>
          </a:p>
          <a:p>
            <a:pPr lvl="3"/>
            <a:r>
              <a:rPr lang="de-DE" sz="1100" dirty="0" err="1"/>
              <a:t>Console.WriteLine</a:t>
            </a:r>
            <a:r>
              <a:rPr lang="de-DE" sz="1100" dirty="0"/>
              <a:t>(„Ein Tier gibt Laut.“);</a:t>
            </a:r>
          </a:p>
          <a:p>
            <a:pPr lvl="2"/>
            <a:r>
              <a:rPr lang="de-DE" sz="1200" dirty="0"/>
              <a:t>}</a:t>
            </a:r>
          </a:p>
          <a:p>
            <a:pPr lvl="1"/>
            <a:r>
              <a:rPr lang="de-DE" sz="1400" dirty="0"/>
              <a:t>}</a:t>
            </a:r>
          </a:p>
          <a:p>
            <a:pPr lvl="1"/>
            <a:r>
              <a:rPr lang="de-DE" sz="1400" dirty="0"/>
              <a:t>Unterklasse Hund : Tier (‚:‘ = erbt von) {</a:t>
            </a:r>
          </a:p>
          <a:p>
            <a:pPr lvl="2"/>
            <a:r>
              <a:rPr lang="de-DE" sz="1200" dirty="0"/>
              <a:t>Methode </a:t>
            </a:r>
            <a:r>
              <a:rPr lang="de-DE" sz="1200" dirty="0" err="1"/>
              <a:t>GibtLaut</a:t>
            </a:r>
            <a:r>
              <a:rPr lang="de-DE" sz="1200" dirty="0"/>
              <a:t>() {</a:t>
            </a:r>
          </a:p>
          <a:p>
            <a:pPr lvl="3"/>
            <a:r>
              <a:rPr lang="de-DE" sz="1100" dirty="0" err="1"/>
              <a:t>Console.WriteLine</a:t>
            </a:r>
            <a:r>
              <a:rPr lang="de-DE" sz="1100" dirty="0"/>
              <a:t>(„Der Hund bellt.“);</a:t>
            </a:r>
          </a:p>
          <a:p>
            <a:pPr lvl="2"/>
            <a:r>
              <a:rPr lang="de-DE" sz="1300" dirty="0"/>
              <a:t>}</a:t>
            </a:r>
          </a:p>
          <a:p>
            <a:pPr lvl="1"/>
            <a:r>
              <a:rPr lang="de-DE" sz="1500" dirty="0"/>
              <a:t>}</a:t>
            </a:r>
          </a:p>
          <a:p>
            <a:r>
              <a:rPr lang="de-DE" sz="1700" dirty="0"/>
              <a:t>Unterklasse Hund erbt die Methode von Oberklasse Tier, spezialisiert jedoch den Wert der Methode</a:t>
            </a:r>
          </a:p>
        </p:txBody>
      </p:sp>
    </p:spTree>
    <p:extLst>
      <p:ext uri="{BB962C8B-B14F-4D97-AF65-F5344CB8AC3E}">
        <p14:creationId xmlns:p14="http://schemas.microsoft.com/office/powerpoint/2010/main" val="326363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B73D64-9678-4AE0-B9C8-B32B5D9B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Vielen Dank für Ihre Aufmerksamkeit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36A7868-5B80-4AA9-A94D-959A2200E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093" y="1983783"/>
            <a:ext cx="4763165" cy="35723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630410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iefer">
  <a:themeElements>
    <a:clrScheme name="Schiefer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chiefer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iefer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Schiefer</Template>
  <TotalTime>0</TotalTime>
  <Words>255</Words>
  <Application>Microsoft Office PowerPoint</Application>
  <PresentationFormat>Breitbild</PresentationFormat>
  <Paragraphs>53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Calisto MT</vt:lpstr>
      <vt:lpstr>Trebuchet MS</vt:lpstr>
      <vt:lpstr>Wingdings</vt:lpstr>
      <vt:lpstr>Wingdings 2</vt:lpstr>
      <vt:lpstr>Schiefer</vt:lpstr>
      <vt:lpstr>4 Säulen von OOP</vt:lpstr>
      <vt:lpstr>Kapselung</vt:lpstr>
      <vt:lpstr>Access modifier (Zugriffsmodifizierer)</vt:lpstr>
      <vt:lpstr>Abstraktion</vt:lpstr>
      <vt:lpstr>Beispiel zur Abstraktion</vt:lpstr>
      <vt:lpstr>Vererbung</vt:lpstr>
      <vt:lpstr>Polymorphismus</vt:lpstr>
      <vt:lpstr>Vielen Dank für Ihre Aufmerksamkeit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</dc:title>
  <dc:creator>Istvan Fazekas</dc:creator>
  <cp:lastModifiedBy>ok</cp:lastModifiedBy>
  <cp:revision>194</cp:revision>
  <dcterms:created xsi:type="dcterms:W3CDTF">2023-09-27T07:24:04Z</dcterms:created>
  <dcterms:modified xsi:type="dcterms:W3CDTF">2023-10-04T12:20:40Z</dcterms:modified>
</cp:coreProperties>
</file>